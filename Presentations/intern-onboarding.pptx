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87489feb240e4c00" /><Relationship Type="http://schemas.openxmlformats.org/package/2006/relationships/metadata/core-properties" Target="/docProps/core.xml" Id="R3438c164f09247e6" /><Relationship Type="http://schemas.openxmlformats.org/officeDocument/2006/relationships/extended-properties" Target="/docProps/app.xml" Id="R3e478e56129d4a99" /><Relationship Type="http://schemas.openxmlformats.org/officeDocument/2006/relationships/custom-properties" Target="/docProps/custom.xml" Id="Rc59988418c074b3a" /></Relationships>
</file>

<file path=ppt/presentation.xml><?xml version="1.0" encoding="utf-8"?>
<p:presentation xmlns:r="http://schemas.openxmlformats.org/officeDocument/2006/relationships" xmlns:p="http://schemas.openxmlformats.org/presentationml/2006/main">
  <p:sldMasterIdLst>
    <p:sldMasterId xmlns:r="http://schemas.openxmlformats.org/officeDocument/2006/relationships" id="2147483648" r:id="rId1"/>
  </p:sldMasterIdLst>
  <p:notesMasterIdLst>
    <p:notesMasterId r:id="R63594fc2dceb44aa"/>
  </p:notesMasterIdLst>
  <p:sldIdLst>
    <p:sldId id="256" r:id="R966476505104499e"/>
    <p:sldId id="257" r:id="R4cd61a13aef64a69"/>
    <p:sldId id="258" r:id="R29d776062ae747cf"/>
    <p:sldId id="259" r:id="Rdd2a10f546ff4c74"/>
    <p:sldId id="260" r:id="R49b01a144cd84165"/>
    <p:sldId id="261" r:id="R3a979230c1d94452"/>
    <p:sldId id="262" r:id="R45e1bda28f54471b"/>
    <p:sldId id="263" r:id="R2281d9ec5742421c"/>
    <p:sldId id="264" r:id="R1730b5603e304627"/>
    <p:sldId id="265" r:id="R314acb48f4e94cb3"/>
    <p:sldId id="266" r:id="R4a0d7720cddf4394"/>
    <p:sldId id="267" r:id="R911802e1268a4d26"/>
    <p:sldId id="268" r:id="R5ac8e4ab8f9f441e"/>
    <p:sldId id="269" r:id="Ra2e45a0238694a00"/>
    <p:sldId id="270" r:id="R0f418a73ff9a4ef6"/>
    <p:sldId id="271" r:id="R4b6c79b8f6b344e3"/>
  </p:sldIdLst>
  <p:sldSz cx="12192000" cy="6858000"/>
  <p:notesSz cx="6858000" cy="9144000"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Relationship Type="http://schemas.openxmlformats.org/officeDocument/2006/relationships/theme" Target="/ppt/theme/theme1.xml" Id="rId2" /><Relationship Type="http://schemas.openxmlformats.org/officeDocument/2006/relationships/slide" Target="/ppt/slides/slide1.xml" Id="R966476505104499e" /><Relationship Type="http://schemas.openxmlformats.org/officeDocument/2006/relationships/notesMaster" Target="/ppt/notesMasters/notesMaster1.xml" Id="R63594fc2dceb44aa" /><Relationship Type="http://schemas.openxmlformats.org/officeDocument/2006/relationships/slide" Target="/ppt/slides/slide2.xml" Id="R4cd61a13aef64a69" /><Relationship Type="http://schemas.openxmlformats.org/officeDocument/2006/relationships/slide" Target="/ppt/slides/slide3.xml" Id="R29d776062ae747cf" /><Relationship Type="http://schemas.openxmlformats.org/officeDocument/2006/relationships/slide" Target="/ppt/slides/slide4.xml" Id="Rdd2a10f546ff4c74" /><Relationship Type="http://schemas.openxmlformats.org/officeDocument/2006/relationships/slide" Target="/ppt/slides/slide5.xml" Id="R49b01a144cd84165" /><Relationship Type="http://schemas.openxmlformats.org/officeDocument/2006/relationships/slide" Target="/ppt/slides/slide6.xml" Id="R3a979230c1d94452" /><Relationship Type="http://schemas.openxmlformats.org/officeDocument/2006/relationships/slide" Target="/ppt/slides/slide7.xml" Id="R45e1bda28f54471b" /><Relationship Type="http://schemas.openxmlformats.org/officeDocument/2006/relationships/slide" Target="/ppt/slides/slide8.xml" Id="R2281d9ec5742421c" /><Relationship Type="http://schemas.openxmlformats.org/officeDocument/2006/relationships/slide" Target="/ppt/slides/slide9.xml" Id="R1730b5603e304627" /><Relationship Type="http://schemas.openxmlformats.org/officeDocument/2006/relationships/slide" Target="/ppt/slides/slide10.xml" Id="R314acb48f4e94cb3" /><Relationship Type="http://schemas.openxmlformats.org/officeDocument/2006/relationships/slide" Target="/ppt/slides/slide11.xml" Id="R4a0d7720cddf4394" /><Relationship Type="http://schemas.openxmlformats.org/officeDocument/2006/relationships/slide" Target="/ppt/slides/slide12.xml" Id="R911802e1268a4d26" /><Relationship Type="http://schemas.openxmlformats.org/officeDocument/2006/relationships/slide" Target="/ppt/slides/slide13.xml" Id="R5ac8e4ab8f9f441e" /><Relationship Type="http://schemas.openxmlformats.org/officeDocument/2006/relationships/slide" Target="/ppt/slides/slide14.xml" Id="Ra2e45a0238694a00" /><Relationship Type="http://schemas.openxmlformats.org/officeDocument/2006/relationships/slide" Target="/ppt/slides/slide15.xml" Id="R0f418a73ff9a4ef6" /><Relationship Type="http://schemas.openxmlformats.org/officeDocument/2006/relationships/slide" Target="/ppt/slides/slide16.xml" Id="R4b6c79b8f6b344e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77deed55224546cf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fld id="{B1E4B0A2-5C8E-4E5F-9C1D-2F3A4B5C6D71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25717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3429000"/>
            <a:ext cx="5486400" cy="4114800"/>
          </a:xfrm>
          <a:prstGeom prst="rect">
            <a:avLst/>
          </a:prstGeom>
        </p:spPr>
        <p:txBody>
          <a:bodyPr vert="horz" lIns="91440" tIns="45720" rIns="91440" bIns="4572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fld id="{B1E4B0A2-5C8E-4E5F-9C1D-2F3A4B5C6D72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>
          <a:solidFill>
            <a:schemeClr val="phClr"/>
          </a:solidFill>
        </a:ln>
        <a:ln w="12700" cap="flat">
          <a:solidFill>
            <a:schemeClr val="phClr"/>
          </a:solidFill>
        </a:ln>
        <a:ln w="19050" cap="flat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daa492e3760d45fd" /><Relationship Type="http://schemas.openxmlformats.org/officeDocument/2006/relationships/slide" Target="/ppt/slides/slide1.xml" Id="R9433cf63002d466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98e6c6e1a69343fb" /><Relationship Type="http://schemas.openxmlformats.org/officeDocument/2006/relationships/slide" Target="/ppt/slides/slide2.xml" Id="R3d8996ed926b491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0da8578fab7948dd" /><Relationship Type="http://schemas.openxmlformats.org/officeDocument/2006/relationships/slide" Target="/ppt/slides/slide3.xml" Id="R64c2769b237f4ea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421c5d136c924632" /><Relationship Type="http://schemas.openxmlformats.org/officeDocument/2006/relationships/slide" Target="/ppt/slides/slide4.xml" Id="R453fb2cf5801479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bb150b4f2754437c" /><Relationship Type="http://schemas.openxmlformats.org/officeDocument/2006/relationships/slide" Target="/ppt/slides/slide5.xml" Id="Rb84477317489471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8968dc45d8ac4857" /><Relationship Type="http://schemas.openxmlformats.org/officeDocument/2006/relationships/slide" Target="/ppt/slides/slide6.xml" Id="R3c371c9168fa4c6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da7c2951fb35499d" /><Relationship Type="http://schemas.openxmlformats.org/officeDocument/2006/relationships/slide" Target="/ppt/slides/slide7.xml" Id="R8d42b3da62ab456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237a7599cb374790" /><Relationship Type="http://schemas.openxmlformats.org/officeDocument/2006/relationships/slide" Target="/ppt/slides/slide8.xml" Id="Rbcc1b9436019476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4247af82abcf4a32" /><Relationship Type="http://schemas.openxmlformats.org/officeDocument/2006/relationships/slide" Target="/ppt/slides/slide9.xml" Id="R352e09672f864cc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bb68a60bdbb6411a" /><Relationship Type="http://schemas.openxmlformats.org/officeDocument/2006/relationships/slide" Target="/ppt/slides/slide10.xml" Id="R67c5807bb6ce4ae6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ebbe534f67724567" /><Relationship Type="http://schemas.openxmlformats.org/officeDocument/2006/relationships/slide" Target="/ppt/slides/slide11.xml" Id="Rd944958b2d3f419a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c3d24a2d7c35488e" /><Relationship Type="http://schemas.openxmlformats.org/officeDocument/2006/relationships/slide" Target="/ppt/slides/slide12.xml" Id="Rfd9acccf3773447a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5dce6341449c4ccc" /><Relationship Type="http://schemas.openxmlformats.org/officeDocument/2006/relationships/slide" Target="/ppt/slides/slide13.xml" Id="Rbf3a1ad8d0eb4a2a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9b4eb64439d84e6c" /><Relationship Type="http://schemas.openxmlformats.org/officeDocument/2006/relationships/slide" Target="/ppt/slides/slide14.xml" Id="R81695282484d4c4e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d3865a89342d428a" /><Relationship Type="http://schemas.openxmlformats.org/officeDocument/2006/relationships/slide" Target="/ppt/slides/slide15.xml" Id="Rd2e78f49633b4057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9bb8eebb24b44246" /><Relationship Type="http://schemas.openxmlformats.org/officeDocument/2006/relationships/slide" Target="/ppt/slides/slide16.xml" Id="Ree27e54f67cc458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Welcome the interns. Goal of this session: understand what Contract Manager does, how the Go backend is organised, the rules we never break, and how to land a first PR.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Roadmap of the session. The first half gives context; the second half is hands-on.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Confidential computing (IBM HPVS / HPCR) runs workloads from an encrypted contract. Several parties each own a piece of that contract and must not see each other's secrets.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Roles are global (RBAC). Every build also has explicit assignments: having the role is not enough, you must also be assigned to that build.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There are two kinds of crypto. Identity keys stay on the user's machine (Electron). Contract crypto runs in the Go backend through contract-go. This repository is the Go backend.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Walk through each folder. Stress that repository/*.sql.go is generated and must never be edited by hand.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Order matters. Global middleware runs on every route. /health is registered before the rate-limited group, so polling never gets a 429. Authenticated routes add Auth, SetupGuard and the signature check, then per-route RequireRole / RequireBuildAccess.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Strictly linear. Always validate with status.CanTransitionTo(next); never compare strings. Cancellation is allowed only before FINALIZED. Attestation has its own small state machine.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Three ideas every contributor must understand before touching mutating endpoints.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Reference numbers that come up in code reviews.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These come straight from AGENTS.md. Reviewers will reject PRs that break them.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There is no Makefile; every command runs from the repo root. DATABASE_URL is required. ADMIN_* variables seed the first admin. Never commit .env files.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Use an existing endpoint, for example key_handler.go → key_service.go, as a template.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From CONTRIBUTING.md. PRs without a linked issue may be closed. CI checks the branch name, the commit message format and commit signatures.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These come from the next-steps sections of the technical and management decks. The backend has no *_test.go files yet, so tests are the best place to start.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Close with where to find answers. If the docs and the code disagree, the code is right.</a:t>
            </a:r>
          </a:p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795ad8f275c4416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e35e30bd4c94569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d8468e4b87b43f5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ac7eb01fab94089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ce422bbde424021" /></Relationships>
</file>

<file path=ppt/slideLayouts/slideLayout1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</p:sldLayout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ctrTitle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Subtitle"/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3.xml><?xml version="1.0" encoding="utf-8"?>
<p:sldLayout xmlns:p="http://schemas.openxmlformats.org/presentationml/2006/main" type="objTx">
  <p:cSld name="Title and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ColTx">
  <p:cSld name="Two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 Left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4" name="Content Right"/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5.xml><?xml version="1.0" encoding="utf-8"?>
<p:sldLayout xmlns:p="http://schemas.openxmlformats.org/presentationml/2006/main" type="titleOnly">
  <p:cSld name="Title Only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Relationship Type="http://schemas.openxmlformats.org/officeDocument/2006/relationships/theme" Target="/ppt/theme/theme1.xml" Id="Rf7f9ebcb66104143" /><Relationship Type="http://schemas.openxmlformats.org/officeDocument/2006/relationships/slideLayout" Target="/ppt/slideLayouts/slideLayout2.xml" Id="rId2" /><Relationship Type="http://schemas.openxmlformats.org/officeDocument/2006/relationships/slideLayout" Target="/ppt/slideLayouts/slideLayout3.xml" Id="rId3" /><Relationship Type="http://schemas.openxmlformats.org/officeDocument/2006/relationships/slideLayout" Target="/ppt/slideLayouts/slideLayout4.xml" Id="rId4" /><Relationship Type="http://schemas.openxmlformats.org/officeDocument/2006/relationships/slideLayout" Target="/ppt/slideLayouts/slideLayout5.xml" Id="rId5" /></Relationships>
</file>

<file path=ppt/slideMasters/slideMaster1.xml><?xml version="1.0" encoding="utf-8"?>
<p:sldMaster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Id1"/>
    <p:sldLayoutId xmlns:r="http://schemas.openxmlformats.org/officeDocument/2006/relationships" id="2147483650" r:id="rId2"/>
    <p:sldLayoutId xmlns:r="http://schemas.openxmlformats.org/officeDocument/2006/relationships" id="2147483651" r:id="rId3"/>
    <p:sldLayoutId xmlns:r="http://schemas.openxmlformats.org/officeDocument/2006/relationships" id="2147483652" r:id="rId4"/>
    <p:sldLayoutId xmlns:r="http://schemas.openxmlformats.org/officeDocument/2006/relationships" id="2147483653" r:id="rId5"/>
  </p:sldLayoutIdLst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2a86f758154c58" /><Relationship Type="http://schemas.openxmlformats.org/officeDocument/2006/relationships/notesSlide" Target="/ppt/notesSlides/notesSlide1.xml" Id="Rb317f3aeba0a409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8df69c24ca4b9f" /><Relationship Type="http://schemas.openxmlformats.org/officeDocument/2006/relationships/notesSlide" Target="/ppt/notesSlides/notesSlide2.xml" Id="R026ac6d3cc34434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45d73764a24989" /><Relationship Type="http://schemas.openxmlformats.org/officeDocument/2006/relationships/notesSlide" Target="/ppt/notesSlides/notesSlide3.xml" Id="R33ad4983f9e5466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4d5b08d07448f7" /><Relationship Type="http://schemas.openxmlformats.org/officeDocument/2006/relationships/notesSlide" Target="/ppt/notesSlides/notesSlide4.xml" Id="R9658da96e1e94d5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e61eaa360c4858" /><Relationship Type="http://schemas.openxmlformats.org/officeDocument/2006/relationships/notesSlide" Target="/ppt/notesSlides/notesSlide5.xml" Id="R690ca0ed6f9d419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57940defb44872" /><Relationship Type="http://schemas.openxmlformats.org/officeDocument/2006/relationships/notesSlide" Target="/ppt/notesSlides/notesSlide6.xml" Id="R3ee4a2bdb30b427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867801f7994b3b" /><Relationship Type="http://schemas.openxmlformats.org/officeDocument/2006/relationships/notesSlide" Target="/ppt/notesSlides/notesSlide7.xml" Id="R76b7282c002f46a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98d9326c1c44c8" /><Relationship Type="http://schemas.openxmlformats.org/officeDocument/2006/relationships/notesSlide" Target="/ppt/notesSlides/notesSlide8.xml" Id="R6f03bf7a7d6b43e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4db4944d89442f" /><Relationship Type="http://schemas.openxmlformats.org/officeDocument/2006/relationships/notesSlide" Target="/ppt/notesSlides/notesSlide9.xml" Id="R4c899267e2ab463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5e956f110a4e9f" /><Relationship Type="http://schemas.openxmlformats.org/officeDocument/2006/relationships/notesSlide" Target="/ppt/notesSlides/notesSlide10.xml" Id="R2f715a16fcbc492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3261f0428647b9" /><Relationship Type="http://schemas.openxmlformats.org/officeDocument/2006/relationships/notesSlide" Target="/ppt/notesSlides/notesSlide11.xml" Id="R697b3fe512bc4a83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6a8ad561f24ff4" /><Relationship Type="http://schemas.openxmlformats.org/officeDocument/2006/relationships/notesSlide" Target="/ppt/notesSlides/notesSlide12.xml" Id="R3ff727ac06904fa7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aa9705a3484189" /><Relationship Type="http://schemas.openxmlformats.org/officeDocument/2006/relationships/notesSlide" Target="/ppt/notesSlides/notesSlide13.xml" Id="Racf4c1615093488d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f77d788e21463e" /><Relationship Type="http://schemas.openxmlformats.org/officeDocument/2006/relationships/notesSlide" Target="/ppt/notesSlides/notesSlide14.xml" Id="R811eac37d1534f0a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0190a96c064765" /><Relationship Type="http://schemas.openxmlformats.org/officeDocument/2006/relationships/notesSlide" Target="/ppt/notesSlides/notesSlide15.xml" Id="R344fd177656b4d7c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740810b9154315" /><Relationship Type="http://schemas.openxmlformats.org/officeDocument/2006/relationships/notesSlide" Target="/ppt/notesSlides/notesSlide16.xml" Id="R7f18d25d2bb3460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61616"/>
        </a:solidFill>
      </p:bgPr>
    </p:bg>
    <p:spTree>
      <p:nvGrpSpPr>
        <p:cNvPr id="1" name=""/>
        <p:cNvGrpSpPr/>
        <p:nvPr/>
      </p:nvGrpSpPr>
      <p:grpSpPr/>
      <p:sp>
        <p:nvSpPr>
          <p:cNvPr id="100000" name="TextBox 1"/>
          <p:cNvSpPr/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62FE"/>
          </a:solidFill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/>
            <a:endParaRPr lang="en-US" sz="1600" b="0">
              <a:solidFill>
                <a:srgbClr val="161616"/>
              </a:solidFill>
              <a:latin typeface="IBM Plex Sans"/>
              <a:ea typeface="IBM Plex Sans"/>
            </a:endParaRPr>
          </a:p>
        </p:txBody>
      </p:sp>
      <p:sp>
        <p:nvSpPr>
          <p:cNvPr id="100001" name="TextBox 2"/>
          <p:cNvSpPr/>
          <p:nvPr/>
        </p:nvSpPr>
        <p:spPr>
          <a:xfrm xmlns:a="http://schemas.openxmlformats.org/drawingml/2006/main">
            <a:off x="762000" y="1524000"/>
            <a:ext cx="10668000" cy="25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/>
            <a:r>
              <a:rPr lang="en-US" sz="1200" b="1">
                <a:solidFill>
                  <a:srgbClr val="78A9FF"/>
                </a:solidFill>
                <a:latin typeface="IBM Plex Sans"/>
                <a:ea typeface="IBM Plex Sans"/>
              </a:rPr>
              <a:t>IBM HYPER PROTECT · INTERN ONBOARDING</a:t>
            </a:r>
          </a:p>
        </p:txBody>
      </p:sp>
      <p:sp>
        <p:nvSpPr>
          <p:cNvPr id="100002" name="TextBox 3"/>
          <p:cNvSpPr/>
          <p:nvPr/>
        </p:nvSpPr>
        <p:spPr>
          <a:xfrm xmlns:a="http://schemas.openxmlformats.org/drawingml/2006/main">
            <a:off x="762000" y="19050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/>
            <a:r>
              <a:rPr lang="en-US" sz="4200" b="1">
                <a:solidFill>
                  <a:srgbClr val="FFFFFF"/>
                </a:solidFill>
                <a:latin typeface="IBM Plex Sans"/>
                <a:ea typeface="IBM Plex Sans"/>
              </a:rPr>
              <a:t>Contract Manager</a:t>
            </a:r>
          </a:p>
        </p:txBody>
      </p:sp>
      <p:sp>
        <p:nvSpPr>
          <p:cNvPr id="100003" name="TextBox 4"/>
          <p:cNvSpPr/>
          <p:nvPr/>
        </p:nvSpPr>
        <p:spPr>
          <a:xfrm xmlns:a="http://schemas.openxmlformats.org/drawingml/2006/main">
            <a:off x="762000" y="2730500"/>
            <a:ext cx="1066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/>
            <a:r>
              <a:rPr lang="en-US" sz="2000" b="0">
                <a:solidFill>
                  <a:srgbClr val="C6C6C6"/>
                </a:solidFill>
                <a:latin typeface="IBM Plex Sans"/>
                <a:ea typeface="IBM Plex Sans"/>
              </a:rPr>
              <a:t>How the project works and how you will contribute to it</a:t>
            </a:r>
          </a:p>
        </p:txBody>
      </p:sp>
      <p:sp>
        <p:nvSpPr>
          <p:cNvPr id="100004" name="TextBox 5"/>
          <p:cNvSpPr/>
          <p:nvPr/>
        </p:nvSpPr>
        <p:spPr>
          <a:xfrm xmlns:a="http://schemas.openxmlformats.org/drawingml/2006/main">
            <a:off x="762000" y="5080000"/>
            <a:ext cx="10668000" cy="25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/>
            <a:r>
              <a:rPr lang="en-US" sz="1400" b="0">
                <a:solidFill>
                  <a:srgbClr val="A8A8A8"/>
                </a:solidFill>
                <a:latin typeface="IBM Plex Sans"/>
                <a:ea typeface="IBM Plex Sans"/>
              </a:rPr>
              <a:t>Go backend · PostgreSQL · contract-go · Electron desktop app</a:t>
            </a:r>
          </a:p>
        </p:txBody>
      </p:sp>
      <p:sp>
        <p:nvSpPr>
          <p:cNvPr id="100005" name="TextBox 6"/>
          <p:cNvSpPr/>
          <p:nvPr/>
        </p:nvSpPr>
        <p:spPr>
          <a:xfrm xmlns:a="http://schemas.openxmlformats.org/drawingml/2006/main">
            <a:off x="762000" y="5397500"/>
            <a:ext cx="10668000" cy="25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/>
            <a:r>
              <a:rPr lang="en-US" sz="1400" b="0">
                <a:solidFill>
                  <a:srgbClr val="A8A8A8"/>
                </a:solidFill>
                <a:latin typeface="IBM Plex Sans"/>
                <a:ea typeface="IBM Plex Sans"/>
              </a:rPr>
              <a:t>Read alongside: AGENTS.md · CONTRIBUTING.md · Design/1–6</a:t>
            </a:r>
          </a:p>
        </p:txBody>
      </p:sp>
    </p:spTree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100006" name="TextBox 1"/>
          <p:cNvSpPr/>
          <p:nvPr/>
        </p:nvSpPr>
        <p:spPr>
          <a:xfrm xmlns:a="http://schemas.openxmlformats.org/drawingml/2006/main">
            <a:off x="762000" y="571500"/>
            <a:ext cx="10668000" cy="20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/>
            <a:r>
              <a:rPr lang="en-US" sz="1100" b="1">
                <a:solidFill>
                  <a:srgbClr val="0F62FE"/>
                </a:solidFill>
                <a:latin typeface="IBM Plex Sans"/>
                <a:ea typeface="IBM Plex Sans"/>
              </a:rPr>
              <a:t>AGENDA</a:t>
            </a:r>
          </a:p>
        </p:txBody>
      </p:sp>
      <p:sp>
        <p:nvSpPr>
          <p:cNvPr id="100007" name="TextBox 2"/>
          <p:cNvSpPr/>
          <p:nvPr/>
        </p:nvSpPr>
        <p:spPr>
          <a:xfrm xmlns:a="http://schemas.openxmlformats.org/drawingml/2006/main">
            <a:off x="762000" y="800100"/>
            <a:ext cx="10668000" cy="431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/>
            <a:r>
              <a:rPr lang="en-US" sz="2400" b="1">
                <a:solidFill>
                  <a:srgbClr val="161616"/>
                </a:solidFill>
                <a:latin typeface="IBM Plex Sans"/>
                <a:ea typeface="IBM Plex Sans"/>
              </a:rPr>
              <a:t>What we will cover</a:t>
            </a:r>
          </a:p>
        </p:txBody>
      </p:sp>
      <p:sp>
        <p:nvSpPr>
          <p:cNvPr id="100008" name="TextBox 3"/>
          <p:cNvSpPr/>
          <p:nvPr/>
        </p:nvSpPr>
        <p:spPr>
          <a:xfrm xmlns:a="http://schemas.openxmlformats.org/drawingml/2006/main">
            <a:off x="762000" y="1460500"/>
            <a:ext cx="63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/>
            <a:r>
              <a:rPr lang="en-US" sz="2400" b="1">
                <a:solidFill>
                  <a:srgbClr val="0F62FE"/>
                </a:solidFill>
                <a:latin typeface="IBM Plex Sans"/>
                <a:ea typeface="IBM Plex Sans"/>
              </a:rPr>
              <a:t>01</a:t>
            </a:r>
          </a:p>
        </p:txBody>
      </p:sp>
      <p:sp>
        <p:nvSpPr>
          <p:cNvPr id="100009" name="TextBox 4"/>
          <p:cNvSpPr/>
          <p:nvPr/>
        </p:nvSpPr>
        <p:spPr>
          <a:xfrm xmlns:a="http://schemas.openxmlformats.org/drawingml/2006/main">
            <a:off x="1473200" y="1511300"/>
            <a:ext cx="4318000" cy="355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/>
            <a:r>
              <a:rPr lang="en-US" sz="1800" b="0">
                <a:solidFill>
                  <a:srgbClr val="161616"/>
                </a:solidFill>
                <a:latin typeface="IBM Plex Sans"/>
                <a:ea typeface="IBM Plex Sans"/>
              </a:rPr>
              <a:t>The problem and the personas</a:t>
            </a:r>
          </a:p>
        </p:txBody>
      </p:sp>
      <p:sp>
        <p:nvSpPr>
          <p:cNvPr id="100010" name="TextBox 5"/>
          <p:cNvSpPr/>
          <p:nvPr/>
        </p:nvSpPr>
        <p:spPr>
          <a:xfrm xmlns:a="http://schemas.openxmlformats.org/drawingml/2006/main">
            <a:off x="762000" y="2019300"/>
            <a:ext cx="4953000" cy="12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E0E0"/>
          </a:solidFill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/>
            <a:endParaRPr lang="en-US" sz="1600" b="0">
              <a:solidFill>
                <a:srgbClr val="161616"/>
              </a:solidFill>
              <a:latin typeface="IBM Plex Sans"/>
              <a:ea typeface="IBM Plex Sans"/>
            </a:endParaRPr>
          </a:p>
        </p:txBody>
      </p:sp>
      <p:sp>
        <p:nvSpPr>
          <p:cNvPr id="100011" name="TextBox 6"/>
          <p:cNvSpPr/>
          <p:nvPr/>
        </p:nvSpPr>
        <p:spPr>
          <a:xfrm xmlns:a="http://schemas.openxmlformats.org/drawingml/2006/main">
            <a:off x="762000" y="2273300"/>
            <a:ext cx="63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/>
            <a:r>
              <a:rPr lang="en-US" sz="2400" b="1">
                <a:solidFill>
                  <a:srgbClr val="0F62FE"/>
                </a:solidFill>
                <a:latin typeface="IBM Plex Sans"/>
                <a:ea typeface="IBM Plex Sans"/>
              </a:rPr>
              <a:t>02</a:t>
            </a:r>
          </a:p>
        </p:txBody>
      </p:sp>
      <p:sp>
        <p:nvSpPr>
          <p:cNvPr id="100012" name="TextBox 7"/>
          <p:cNvSpPr/>
          <p:nvPr/>
        </p:nvSpPr>
        <p:spPr>
          <a:xfrm xmlns:a="http://schemas.openxmlformats.org/drawingml/2006/main">
            <a:off x="1473200" y="2324100"/>
            <a:ext cx="4318000" cy="355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/>
            <a:r>
              <a:rPr lang="en-US" sz="1800" b="0">
                <a:solidFill>
                  <a:srgbClr val="161616"/>
                </a:solidFill>
                <a:latin typeface="IBM Plex Sans"/>
                <a:ea typeface="IBM Plex Sans"/>
              </a:rPr>
              <a:t>System architecture</a:t>
            </a:r>
          </a:p>
        </p:txBody>
      </p:sp>
      <p:sp>
        <p:nvSpPr>
          <p:cNvPr id="100013" name="TextBox 8"/>
          <p:cNvSpPr/>
          <p:nvPr/>
        </p:nvSpPr>
        <p:spPr>
          <a:xfrm xmlns:a="http://schemas.openxmlformats.org/drawingml/2006/main">
            <a:off x="762000" y="2832100"/>
            <a:ext cx="4953000" cy="12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E0E0"/>
          </a:solidFill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/>
            <a:endParaRPr lang="en-US" sz="1600" b="0">
              <a:solidFill>
                <a:srgbClr val="161616"/>
              </a:solidFill>
              <a:latin typeface="IBM Plex Sans"/>
              <a:ea typeface="IBM Plex Sans"/>
            </a:endParaRPr>
          </a:p>
        </p:txBody>
      </p:sp>
      <p:sp>
        <p:nvSpPr>
          <p:cNvPr id="100014" name="TextBox 9"/>
          <p:cNvSpPr/>
          <p:nvPr/>
        </p:nvSpPr>
        <p:spPr>
          <a:xfrm xmlns:a="http://schemas.openxmlformats.org/drawingml/2006/main">
            <a:off x="762000" y="3086100"/>
            <a:ext cx="63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/>
            <a:r>
              <a:rPr lang="en-US" sz="2400" b="1">
                <a:solidFill>
                  <a:srgbClr val="0F62FE"/>
                </a:solidFill>
                <a:latin typeface="IBM Plex Sans"/>
                <a:ea typeface="IBM Plex Sans"/>
              </a:rPr>
              <a:t>03</a:t>
            </a:r>
          </a:p>
        </p:txBody>
      </p:sp>
      <p:sp>
        <p:nvSpPr>
          <p:cNvPr id="100015" name="TextBox 10"/>
          <p:cNvSpPr/>
          <p:nvPr/>
        </p:nvSpPr>
        <p:spPr>
          <a:xfrm xmlns:a="http://schemas.openxmlformats.org/drawingml/2006/main">
            <a:off x="1473200" y="3136900"/>
            <a:ext cx="4318000" cy="355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/>
            <a:r>
              <a:rPr lang="en-US" sz="1800" b="0">
                <a:solidFill>
                  <a:srgbClr val="161616"/>
                </a:solidFill>
                <a:latin typeface="IBM Plex Sans"/>
                <a:ea typeface="IBM Plex Sans"/>
              </a:rPr>
              <a:t>A tour of the repository</a:t>
            </a:r>
          </a:p>
        </p:txBody>
      </p:sp>
      <p:sp>
        <p:nvSpPr>
          <p:cNvPr id="100016" name="TextBox 11"/>
          <p:cNvSpPr/>
          <p:nvPr/>
        </p:nvSpPr>
        <p:spPr>
          <a:xfrm xmlns:a="http://schemas.openxmlformats.org/drawingml/2006/main">
            <a:off x="762000" y="3644900"/>
            <a:ext cx="4953000" cy="12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E0E0"/>
          </a:solidFill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/>
            <a:endParaRPr lang="en-US" sz="1600" b="0">
              <a:solidFill>
                <a:srgbClr val="161616"/>
              </a:solidFill>
              <a:latin typeface="IBM Plex Sans"/>
              <a:ea typeface="IBM Plex Sans"/>
            </a:endParaRPr>
          </a:p>
        </p:txBody>
      </p:sp>
      <p:sp>
        <p:nvSpPr>
          <p:cNvPr id="100017" name="TextBox 12"/>
          <p:cNvSpPr/>
          <p:nvPr/>
        </p:nvSpPr>
        <p:spPr>
          <a:xfrm xmlns:a="http://schemas.openxmlformats.org/drawingml/2006/main">
            <a:off x="762000" y="3898900"/>
            <a:ext cx="63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/>
            <a:r>
              <a:rPr lang="en-US" sz="2400" b="1">
                <a:solidFill>
                  <a:srgbClr val="0F62FE"/>
                </a:solidFill>
                <a:latin typeface="IBM Plex Sans"/>
                <a:ea typeface="IBM Plex Sans"/>
              </a:rPr>
              <a:t>04</a:t>
            </a:r>
          </a:p>
        </p:txBody>
      </p:sp>
      <p:sp>
        <p:nvSpPr>
          <p:cNvPr id="100018" name="TextBox 13"/>
          <p:cNvSpPr/>
          <p:nvPr/>
        </p:nvSpPr>
        <p:spPr>
          <a:xfrm xmlns:a="http://schemas.openxmlformats.org/drawingml/2006/main">
            <a:off x="1473200" y="3949700"/>
            <a:ext cx="4318000" cy="355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/>
            <a:r>
              <a:rPr lang="en-US" sz="1800" b="0">
                <a:solidFill>
                  <a:srgbClr val="161616"/>
                </a:solidFill>
                <a:latin typeface="IBM Plex Sans"/>
                <a:ea typeface="IBM Plex Sans"/>
              </a:rPr>
              <a:t>Life of a request</a:t>
            </a:r>
          </a:p>
        </p:txBody>
      </p:sp>
      <p:sp>
        <p:nvSpPr>
          <p:cNvPr id="100019" name="TextBox 14"/>
          <p:cNvSpPr/>
          <p:nvPr/>
        </p:nvSpPr>
        <p:spPr>
          <a:xfrm xmlns:a="http://schemas.openxmlformats.org/drawingml/2006/main">
            <a:off x="762000" y="4457700"/>
            <a:ext cx="4953000" cy="12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E0E0"/>
          </a:solidFill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/>
            <a:endParaRPr lang="en-US" sz="1600" b="0">
              <a:solidFill>
                <a:srgbClr val="161616"/>
              </a:solidFill>
              <a:latin typeface="IBM Plex Sans"/>
              <a:ea typeface="IBM Plex Sans"/>
            </a:endParaRPr>
          </a:p>
        </p:txBody>
      </p:sp>
      <p:sp>
        <p:nvSpPr>
          <p:cNvPr id="100020" name="TextBox 15"/>
          <p:cNvSpPr/>
          <p:nvPr/>
        </p:nvSpPr>
        <p:spPr>
          <a:xfrm xmlns:a="http://schemas.openxmlformats.org/drawingml/2006/main">
            <a:off x="762000" y="4711700"/>
            <a:ext cx="63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/>
            <a:r>
              <a:rPr lang="en-US" sz="2400" b="1">
                <a:solidFill>
                  <a:srgbClr val="0F62FE"/>
                </a:solidFill>
                <a:latin typeface="IBM Plex Sans"/>
                <a:ea typeface="IBM Plex Sans"/>
              </a:rPr>
              <a:t>05</a:t>
            </a:r>
          </a:p>
        </p:txBody>
      </p:sp>
      <p:sp>
        <p:nvSpPr>
          <p:cNvPr id="100021" name="TextBox 16"/>
          <p:cNvSpPr/>
          <p:nvPr/>
        </p:nvSpPr>
        <p:spPr>
          <a:xfrm xmlns:a="http://schemas.openxmlformats.org/drawingml/2006/main">
            <a:off x="1473200" y="4762500"/>
            <a:ext cx="4318000" cy="355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/>
            <a:r>
              <a:rPr lang="en-US" sz="1800" b="0">
                <a:solidFill>
                  <a:srgbClr val="161616"/>
                </a:solidFill>
                <a:latin typeface="IBM Plex Sans"/>
                <a:ea typeface="IBM Plex Sans"/>
              </a:rPr>
              <a:t>Build workflow and security model</a:t>
            </a:r>
          </a:p>
        </p:txBody>
      </p:sp>
      <p:sp>
        <p:nvSpPr>
          <p:cNvPr id="100022" name="TextBox 17"/>
          <p:cNvSpPr/>
          <p:nvPr/>
        </p:nvSpPr>
        <p:spPr>
          <a:xfrm xmlns:a="http://schemas.openxmlformats.org/drawingml/2006/main">
            <a:off x="762000" y="5270500"/>
            <a:ext cx="4953000" cy="12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E0E0"/>
          </a:solidFill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/>
            <a:endParaRPr lang="en-US" sz="1600" b="0">
              <a:solidFill>
                <a:srgbClr val="161616"/>
              </a:solidFill>
              <a:latin typeface="IBM Plex Sans"/>
              <a:ea typeface="IBM Plex Sans"/>
            </a:endParaRPr>
          </a:p>
        </p:txBody>
      </p:sp>
      <p:sp>
        <p:nvSpPr>
          <p:cNvPr id="100023" name="TextBox 18"/>
          <p:cNvSpPr/>
          <p:nvPr/>
        </p:nvSpPr>
        <p:spPr>
          <a:xfrm xmlns:a="http://schemas.openxmlformats.org/drawingml/2006/main">
            <a:off x="6096000" y="1460500"/>
            <a:ext cx="63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/>
            <a:r>
              <a:rPr lang="en-US" sz="2400" b="1">
                <a:solidFill>
                  <a:srgbClr val="0F62FE"/>
                </a:solidFill>
                <a:latin typeface="IBM Plex Sans"/>
                <a:ea typeface="IBM Plex Sans"/>
              </a:rPr>
              <a:t>06</a:t>
            </a:r>
          </a:p>
        </p:txBody>
      </p:sp>
      <p:sp>
        <p:nvSpPr>
          <p:cNvPr id="100024" name="TextBox 19"/>
          <p:cNvSpPr/>
          <p:nvPr/>
        </p:nvSpPr>
        <p:spPr>
          <a:xfrm xmlns:a="http://schemas.openxmlformats.org/drawingml/2006/main">
            <a:off x="6807200" y="1511300"/>
            <a:ext cx="4318000" cy="355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/>
            <a:r>
              <a:rPr lang="en-US" sz="1800" b="0">
                <a:solidFill>
                  <a:srgbClr val="161616"/>
                </a:solidFill>
                <a:latin typeface="IBM Plex Sans"/>
                <a:ea typeface="IBM Plex Sans"/>
              </a:rPr>
              <a:t>Rules we never break</a:t>
            </a:r>
          </a:p>
        </p:txBody>
      </p:sp>
      <p:sp>
        <p:nvSpPr>
          <p:cNvPr id="100025" name="TextBox 20"/>
          <p:cNvSpPr/>
          <p:nvPr/>
        </p:nvSpPr>
        <p:spPr>
          <a:xfrm xmlns:a="http://schemas.openxmlformats.org/drawingml/2006/main">
            <a:off x="6096000" y="2019300"/>
            <a:ext cx="4953000" cy="12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E0E0"/>
          </a:solidFill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/>
            <a:endParaRPr lang="en-US" sz="1600" b="0">
              <a:solidFill>
                <a:srgbClr val="161616"/>
              </a:solidFill>
              <a:latin typeface="IBM Plex Sans"/>
              <a:ea typeface="IBM Plex Sans"/>
            </a:endParaRPr>
          </a:p>
        </p:txBody>
      </p:sp>
      <p:sp>
        <p:nvSpPr>
          <p:cNvPr id="100026" name="TextBox 21"/>
          <p:cNvSpPr/>
          <p:nvPr/>
        </p:nvSpPr>
        <p:spPr>
          <a:xfrm xmlns:a="http://schemas.openxmlformats.org/drawingml/2006/main">
            <a:off x="6096000" y="2273300"/>
            <a:ext cx="63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/>
            <a:r>
              <a:rPr lang="en-US" sz="2400" b="1">
                <a:solidFill>
                  <a:srgbClr val="0F62FE"/>
                </a:solidFill>
                <a:latin typeface="IBM Plex Sans"/>
                <a:ea typeface="IBM Plex Sans"/>
              </a:rPr>
              <a:t>07</a:t>
            </a:r>
          </a:p>
        </p:txBody>
      </p:sp>
      <p:sp>
        <p:nvSpPr>
          <p:cNvPr id="100027" name="TextBox 22"/>
          <p:cNvSpPr/>
          <p:nvPr/>
        </p:nvSpPr>
        <p:spPr>
          <a:xfrm xmlns:a="http://schemas.openxmlformats.org/drawingml/2006/main">
            <a:off x="6807200" y="2324100"/>
            <a:ext cx="4318000" cy="355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/>
            <a:r>
              <a:rPr lang="en-US" sz="1800" b="0">
                <a:solidFill>
                  <a:srgbClr val="161616"/>
                </a:solidFill>
                <a:latin typeface="IBM Plex Sans"/>
                <a:ea typeface="IBM Plex Sans"/>
              </a:rPr>
              <a:t>Local setup and daily commands</a:t>
            </a:r>
          </a:p>
        </p:txBody>
      </p:sp>
      <p:sp>
        <p:nvSpPr>
          <p:cNvPr id="100028" name="TextBox 23"/>
          <p:cNvSpPr/>
          <p:nvPr/>
        </p:nvSpPr>
        <p:spPr>
          <a:xfrm xmlns:a="http://schemas.openxmlformats.org/drawingml/2006/main">
            <a:off x="6096000" y="2832100"/>
            <a:ext cx="4953000" cy="12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E0E0"/>
          </a:solidFill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/>
            <a:endParaRPr lang="en-US" sz="1600" b="0">
              <a:solidFill>
                <a:srgbClr val="161616"/>
              </a:solidFill>
              <a:latin typeface="IBM Plex Sans"/>
              <a:ea typeface="IBM Plex Sans"/>
            </a:endParaRPr>
          </a:p>
        </p:txBody>
      </p:sp>
      <p:sp>
        <p:nvSpPr>
          <p:cNvPr id="100029" name="TextBox 24"/>
          <p:cNvSpPr/>
          <p:nvPr/>
        </p:nvSpPr>
        <p:spPr>
          <a:xfrm xmlns:a="http://schemas.openxmlformats.org/drawingml/2006/main">
            <a:off x="6096000" y="3086100"/>
            <a:ext cx="63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/>
            <a:r>
              <a:rPr lang="en-US" sz="2400" b="1">
                <a:solidFill>
                  <a:srgbClr val="0F62FE"/>
                </a:solidFill>
                <a:latin typeface="IBM Plex Sans"/>
                <a:ea typeface="IBM Plex Sans"/>
              </a:rPr>
              <a:t>08</a:t>
            </a:r>
          </a:p>
        </p:txBody>
      </p:sp>
      <p:sp>
        <p:nvSpPr>
          <p:cNvPr id="100030" name="TextBox 25"/>
          <p:cNvSpPr/>
          <p:nvPr/>
        </p:nvSpPr>
        <p:spPr>
          <a:xfrm xmlns:a="http://schemas.openxmlformats.org/drawingml/2006/main">
            <a:off x="6807200" y="3136900"/>
            <a:ext cx="4318000" cy="355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/>
            <a:r>
              <a:rPr lang="en-US" sz="1800" b="0">
                <a:solidFill>
                  <a:srgbClr val="161616"/>
                </a:solidFill>
                <a:latin typeface="IBM Plex Sans"/>
                <a:ea typeface="IBM Plex Sans"/>
              </a:rPr>
              <a:t>Adding a feature end-to-end</a:t>
            </a:r>
          </a:p>
        </p:txBody>
      </p:sp>
      <p:sp>
        <p:nvSpPr>
          <p:cNvPr id="100031" name="TextBox 26"/>
          <p:cNvSpPr/>
          <p:nvPr/>
        </p:nvSpPr>
        <p:spPr>
          <a:xfrm xmlns:a="http://schemas.openxmlformats.org/drawingml/2006/main">
            <a:off x="6096000" y="3644900"/>
            <a:ext cx="4953000" cy="12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E0E0"/>
          </a:solidFill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/>
            <a:endParaRPr lang="en-US" sz="1600" b="0">
              <a:solidFill>
                <a:srgbClr val="161616"/>
              </a:solidFill>
              <a:latin typeface="IBM Plex Sans"/>
              <a:ea typeface="IBM Plex Sans"/>
            </a:endParaRPr>
          </a:p>
        </p:txBody>
      </p:sp>
      <p:sp>
        <p:nvSpPr>
          <p:cNvPr id="100032" name="TextBox 27"/>
          <p:cNvSpPr/>
          <p:nvPr/>
        </p:nvSpPr>
        <p:spPr>
          <a:xfrm xmlns:a="http://schemas.openxmlformats.org/drawingml/2006/main">
            <a:off x="6096000" y="3898900"/>
            <a:ext cx="63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/>
            <a:r>
              <a:rPr lang="en-US" sz="2400" b="1">
                <a:solidFill>
                  <a:srgbClr val="0F62FE"/>
                </a:solidFill>
                <a:latin typeface="IBM Plex Sans"/>
                <a:ea typeface="IBM Plex Sans"/>
              </a:rPr>
              <a:t>09</a:t>
            </a:r>
          </a:p>
        </p:txBody>
      </p:sp>
      <p:sp>
        <p:nvSpPr>
          <p:cNvPr id="100033" name="TextBox 28"/>
          <p:cNvSpPr/>
          <p:nvPr/>
        </p:nvSpPr>
        <p:spPr>
          <a:xfrm xmlns:a="http://schemas.openxmlformats.org/drawingml/2006/main">
            <a:off x="6807200" y="3949700"/>
            <a:ext cx="4318000" cy="355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/>
            <a:r>
              <a:rPr lang="en-US" sz="1800" b="0">
                <a:solidFill>
                  <a:srgbClr val="161616"/>
                </a:solidFill>
                <a:latin typeface="IBM Plex Sans"/>
                <a:ea typeface="IBM Plex Sans"/>
              </a:rPr>
              <a:t>Contribution workflow</a:t>
            </a:r>
          </a:p>
        </p:txBody>
      </p:sp>
      <p:sp>
        <p:nvSpPr>
          <p:cNvPr id="100034" name="TextBox 29"/>
          <p:cNvSpPr/>
          <p:nvPr/>
        </p:nvSpPr>
        <p:spPr>
          <a:xfrm xmlns:a="http://schemas.openxmlformats.org/drawingml/2006/main">
            <a:off x="6096000" y="4457700"/>
            <a:ext cx="4953000" cy="12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E0E0"/>
          </a:solidFill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/>
            <a:endParaRPr lang="en-US" sz="1600" b="0">
              <a:solidFill>
                <a:srgbClr val="161616"/>
              </a:solidFill>
              <a:latin typeface="IBM Plex Sans"/>
              <a:ea typeface="IBM Plex Sans"/>
            </a:endParaRPr>
          </a:p>
        </p:txBody>
      </p:sp>
      <p:sp>
        <p:nvSpPr>
          <p:cNvPr id="100035" name="TextBox 30"/>
          <p:cNvSpPr/>
          <p:nvPr/>
        </p:nvSpPr>
        <p:spPr>
          <a:xfrm xmlns:a="http://schemas.openxmlformats.org/drawingml/2006/main">
            <a:off x="6096000" y="4711700"/>
            <a:ext cx="63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/>
            <a:r>
              <a:rPr lang="en-US" sz="2400" b="1">
                <a:solidFill>
                  <a:srgbClr val="0F62FE"/>
                </a:solidFill>
                <a:latin typeface="IBM Plex Sans"/>
                <a:ea typeface="IBM Plex Sans"/>
              </a:rPr>
              <a:t>10</a:t>
            </a:r>
          </a:p>
        </p:txBody>
      </p:sp>
      <p:sp>
        <p:nvSpPr>
          <p:cNvPr id="100036" name="TextBox 31"/>
          <p:cNvSpPr/>
          <p:nvPr/>
        </p:nvSpPr>
        <p:spPr>
          <a:xfrm xmlns:a="http://schemas.openxmlformats.org/drawingml/2006/main">
            <a:off x="6807200" y="4762500"/>
            <a:ext cx="4318000" cy="355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/>
            <a:r>
              <a:rPr lang="en-US" sz="1800" b="0">
                <a:solidFill>
                  <a:srgbClr val="161616"/>
                </a:solidFill>
                <a:latin typeface="IBM Plex Sans"/>
                <a:ea typeface="IBM Plex Sans"/>
              </a:rPr>
              <a:t>Good first tasks and resources</a:t>
            </a:r>
          </a:p>
        </p:txBody>
      </p:sp>
      <p:sp>
        <p:nvSpPr>
          <p:cNvPr id="100037" name="TextBox 32"/>
          <p:cNvSpPr/>
          <p:nvPr/>
        </p:nvSpPr>
        <p:spPr>
          <a:xfrm xmlns:a="http://schemas.openxmlformats.org/drawingml/2006/main">
            <a:off x="6096000" y="5270500"/>
            <a:ext cx="4953000" cy="12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E0E0"/>
          </a:solidFill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/>
            <a:endParaRPr lang="en-US" sz="1600" b="0">
              <a:solidFill>
                <a:srgbClr val="161616"/>
              </a:solidFill>
              <a:latin typeface="IBM Plex Sans"/>
              <a:ea typeface="IBM Plex Sans"/>
            </a:endParaRPr>
          </a:p>
        </p:txBody>
      </p:sp>
      <p:sp>
        <p:nvSpPr>
          <p:cNvPr id="100038" name="TextBox 33"/>
          <p:cNvSpPr/>
          <p:nvPr/>
        </p:nvSpPr>
        <p:spPr>
          <a:xfrm xmlns:a="http://schemas.openxmlformats.org/drawingml/2006/main">
            <a:off x="762000" y="6324600"/>
            <a:ext cx="5080000" cy="17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/>
            <a:r>
              <a:rPr lang="en-US" sz="1000" b="0">
                <a:solidFill>
                  <a:srgbClr val="525252"/>
                </a:solidFill>
                <a:latin typeface="IBM Plex Sans"/>
                <a:ea typeface="IBM Plex Sans"/>
              </a:rPr>
              <a:t>Contract Manager · Intern Onboarding</a:t>
            </a:r>
          </a:p>
        </p:txBody>
      </p:sp>
      <p:sp>
        <p:nvSpPr>
          <p:cNvPr id="100039" name="TextBox 34"/>
          <p:cNvSpPr/>
          <p:nvPr/>
        </p:nvSpPr>
        <p:spPr>
          <a:xfrm xmlns:a="http://schemas.openxmlformats.org/drawingml/2006/main">
            <a:off x="10922000" y="6324600"/>
            <a:ext cx="508000" cy="17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/>
            <a:r>
              <a:rPr lang="en-US" sz="1000" b="0">
                <a:solidFill>
                  <a:srgbClr val="525252"/>
                </a:solidFill>
                <a:latin typeface="IBM Plex Sans"/>
                <a:ea typeface="IBM Plex Sans"/>
              </a:rPr>
              <a:t>2</a:t>
            </a:r>
          </a:p>
        </p:txBody>
      </p:sp>
    </p:spTree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4F4F4"/>
        </a:solidFill>
      </p:bgPr>
    </p:bg>
    <p:spTree>
      <p:nvGrpSpPr>
        <p:cNvPr id="1" name=""/>
        <p:cNvGrpSpPr/>
        <p:nvPr/>
      </p:nvGrpSpPr>
      <p:grpSpPr/>
      <p:sp>
        <p:nvSpPr>
          <p:cNvPr id="100040" name="TextBox 1"/>
          <p:cNvSpPr/>
          <p:nvPr/>
        </p:nvSpPr>
        <p:spPr>
          <a:xfrm xmlns:a="http://schemas.openxmlformats.org/drawingml/2006/main">
            <a:off x="762000" y="1270000"/>
            <a:ext cx="76200" cy="215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62FE"/>
          </a:solidFill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/>
            <a:endParaRPr lang="en-US" sz="1600" b="0">
              <a:solidFill>
                <a:srgbClr val="161616"/>
              </a:solidFill>
              <a:latin typeface="IBM Plex Sans"/>
              <a:ea typeface="IBM Plex Sans"/>
            </a:endParaRPr>
          </a:p>
        </p:txBody>
      </p:sp>
      <p:sp>
        <p:nvSpPr>
          <p:cNvPr id="100041" name="TextBox 2"/>
          <p:cNvSpPr/>
          <p:nvPr/>
        </p:nvSpPr>
        <p:spPr>
          <a:xfrm xmlns:a="http://schemas.openxmlformats.org/drawingml/2006/main">
            <a:off x="1143000" y="1206500"/>
            <a:ext cx="990600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</a:pPr>
            <a:r>
              <a:rPr lang="en-US" sz="2800" b="0">
                <a:solidFill>
                  <a:srgbClr val="161616"/>
                </a:solidFill>
                <a:latin typeface="IBM Plex Sans"/>
                <a:ea typeface="IBM Plex Sans"/>
              </a:rPr>
              <a:t>“Several parties build one encrypted, signed deployment contract, and none of them has to hand their secrets to the others.”</a:t>
            </a:r>
          </a:p>
        </p:txBody>
      </p:sp>
      <p:sp>
        <p:nvSpPr>
          <p:cNvPr id="100042" name="TextBox 3"/>
          <p:cNvSpPr/>
          <p:nvPr/>
        </p:nvSpPr>
        <p:spPr>
          <a:xfrm xmlns:a="http://schemas.openxmlformats.org/drawingml/2006/main">
            <a:off x="1143000" y="3937000"/>
            <a:ext cx="10668000" cy="279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/>
            <a:r>
              <a:rPr lang="en-US" sz="1400" b="1">
                <a:solidFill>
                  <a:srgbClr val="0F62FE"/>
                </a:solidFill>
                <a:latin typeface="IBM Plex Sans"/>
                <a:ea typeface="IBM Plex Sans"/>
              </a:rPr>
              <a:t>What Contract Manager does</a:t>
            </a:r>
          </a:p>
        </p:txBody>
      </p:sp>
      <p:sp>
        <p:nvSpPr>
          <p:cNvPr id="100043" name="TextBox 4"/>
          <p:cNvSpPr/>
          <p:nvPr/>
        </p:nvSpPr>
        <p:spPr>
          <a:xfrm xmlns:a="http://schemas.openxmlformats.org/drawingml/2006/main">
            <a:off x="1143000" y="4292600"/>
            <a:ext cx="9906000" cy="127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</a:pPr>
            <a:r>
              <a:rPr lang="en-US" sz="1600" b="0">
                <a:solidFill>
                  <a:srgbClr val="525252"/>
                </a:solidFill>
                <a:latin typeface="IBM Plex Sans"/>
                <a:ea typeface="IBM Plex Sans"/>
              </a:rPr>
              <a:t>Produces the signed, encrypted YAML contract that IBM Hyper Protect (HPVS / CCRT) deployments run from. Every step is owned by one persona, signed with that person's own key, and recorded in a tamper-evident audit chain.</a:t>
            </a:r>
          </a:p>
        </p:txBody>
      </p:sp>
      <p:sp>
        <p:nvSpPr>
          <p:cNvPr id="100044" name="TextBox 5"/>
          <p:cNvSpPr/>
          <p:nvPr/>
        </p:nvSpPr>
        <p:spPr>
          <a:xfrm xmlns:a="http://schemas.openxmlformats.org/drawingml/2006/main">
            <a:off x="762000" y="6324600"/>
            <a:ext cx="5080000" cy="17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/>
            <a:r>
              <a:rPr lang="en-US" sz="1000" b="0">
                <a:solidFill>
                  <a:srgbClr val="525252"/>
                </a:solidFill>
                <a:latin typeface="IBM Plex Sans"/>
                <a:ea typeface="IBM Plex Sans"/>
              </a:rPr>
              <a:t>Contract Manager · Intern Onboarding</a:t>
            </a:r>
          </a:p>
        </p:txBody>
      </p:sp>
      <p:sp>
        <p:nvSpPr>
          <p:cNvPr id="100045" name="TextBox 6"/>
          <p:cNvSpPr/>
          <p:nvPr/>
        </p:nvSpPr>
        <p:spPr>
          <a:xfrm xmlns:a="http://schemas.openxmlformats.org/drawingml/2006/main">
            <a:off x="10922000" y="6324600"/>
            <a:ext cx="508000" cy="17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/>
            <a:r>
              <a:rPr lang="en-US" sz="1000" b="0">
                <a:solidFill>
                  <a:srgbClr val="525252"/>
                </a:solidFill>
                <a:latin typeface="IBM Plex Sans"/>
                <a:ea typeface="IBM Plex Sans"/>
              </a:rPr>
              <a:t>3</a:t>
            </a:r>
          </a:p>
        </p:txBody>
      </p:sp>
    </p:spTree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100046" name="TextBox 1"/>
          <p:cNvSpPr/>
          <p:nvPr/>
        </p:nvSpPr>
        <p:spPr>
          <a:xfrm xmlns:a="http://schemas.openxmlformats.org/drawingml/2006/main">
            <a:off x="762000" y="571500"/>
            <a:ext cx="10668000" cy="20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/>
            <a:r>
              <a:rPr lang="en-US" sz="1100" b="1">
                <a:solidFill>
                  <a:srgbClr val="0F62FE"/>
                </a:solidFill>
                <a:latin typeface="IBM Plex Sans"/>
                <a:ea typeface="IBM Plex Sans"/>
              </a:rPr>
              <a:t>WHO USES IT</a:t>
            </a:r>
          </a:p>
        </p:txBody>
      </p:sp>
      <p:sp>
        <p:nvSpPr>
          <p:cNvPr id="100047" name="TextBox 2"/>
          <p:cNvSpPr/>
          <p:nvPr/>
        </p:nvSpPr>
        <p:spPr>
          <a:xfrm xmlns:a="http://schemas.openxmlformats.org/drawingml/2006/main">
            <a:off x="762000" y="800100"/>
            <a:ext cx="10668000" cy="431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/>
            <a:r>
              <a:rPr lang="en-US" sz="2400" b="1">
                <a:solidFill>
                  <a:srgbClr val="161616"/>
                </a:solidFill>
                <a:latin typeface="IBM Plex Sans"/>
                <a:ea typeface="IBM Plex Sans"/>
              </a:rPr>
              <a:t>Six personas, strict separation of duties</a:t>
            </a:r>
          </a:p>
        </p:txBody>
      </p:sp>
      <p:sp>
        <p:nvSpPr>
          <p:cNvPr id="100048" name="TextBox 3"/>
          <p:cNvSpPr/>
          <p:nvPr/>
        </p:nvSpPr>
        <p:spPr>
          <a:xfrm xmlns:a="http://schemas.openxmlformats.org/drawingml/2006/main">
            <a:off x="762000" y="1422400"/>
            <a:ext cx="3386667" cy="1905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4F4"/>
          </a:solidFill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/>
            <a:endParaRPr lang="en-US" sz="1600" b="0">
              <a:solidFill>
                <a:srgbClr val="161616"/>
              </a:solidFill>
              <a:latin typeface="IBM Plex Sans"/>
              <a:ea typeface="IBM Plex Sans"/>
            </a:endParaRPr>
          </a:p>
        </p:txBody>
      </p:sp>
      <p:sp>
        <p:nvSpPr>
          <p:cNvPr id="100049" name="TextBox 4"/>
          <p:cNvSpPr/>
          <p:nvPr/>
        </p:nvSpPr>
        <p:spPr>
          <a:xfrm xmlns:a="http://schemas.openxmlformats.org/drawingml/2006/main">
            <a:off x="762000" y="1422400"/>
            <a:ext cx="3386667" cy="6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62FE"/>
          </a:solidFill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/>
            <a:endParaRPr lang="en-US" sz="1600" b="0">
              <a:solidFill>
                <a:srgbClr val="161616"/>
              </a:solidFill>
              <a:latin typeface="IBM Plex Sans"/>
              <a:ea typeface="IBM Plex Sans"/>
            </a:endParaRPr>
          </a:p>
        </p:txBody>
      </p:sp>
      <p:sp>
        <p:nvSpPr>
          <p:cNvPr id="100050" name="TextBox 5"/>
          <p:cNvSpPr/>
          <p:nvPr/>
        </p:nvSpPr>
        <p:spPr>
          <a:xfrm xmlns:a="http://schemas.openxmlformats.org/drawingml/2006/main">
            <a:off x="1016000" y="1727200"/>
            <a:ext cx="508000" cy="508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62FE"/>
          </a:solidFill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/>
            <a:r>
              <a:rPr lang="en-US" sz="1800" b="1">
                <a:solidFill>
                  <a:srgbClr val="FFFFFF"/>
                </a:solidFill>
                <a:latin typeface="IBM Plex Sans"/>
                <a:ea typeface="IBM Plex Sans"/>
              </a:rPr>
              <a:t>A</a:t>
            </a:r>
          </a:p>
        </p:txBody>
      </p:sp>
      <p:sp>
        <p:nvSpPr>
          <p:cNvPr id="100051" name="TextBox 6"/>
          <p:cNvSpPr/>
          <p:nvPr/>
        </p:nvSpPr>
        <p:spPr>
          <a:xfrm xmlns:a="http://schemas.openxmlformats.org/drawingml/2006/main">
            <a:off x="1676400" y="1828800"/>
            <a:ext cx="2243667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/>
            <a:r>
              <a:rPr lang="en-US" sz="1600" b="1">
                <a:solidFill>
                  <a:srgbClr val="161616"/>
                </a:solidFill>
                <a:latin typeface="IBM Plex Sans"/>
                <a:ea typeface="IBM Plex Sans"/>
              </a:rPr>
              <a:t>ADMIN</a:t>
            </a:r>
          </a:p>
        </p:txBody>
      </p:sp>
      <p:sp>
        <p:nvSpPr>
          <p:cNvPr id="100052" name="TextBox 7"/>
          <p:cNvSpPr/>
          <p:nvPr/>
        </p:nvSpPr>
        <p:spPr>
          <a:xfrm xmlns:a="http://schemas.openxmlformats.org/drawingml/2006/main">
            <a:off x="1016000" y="2438400"/>
            <a:ext cx="2878667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/>
            <a:r>
              <a:rPr lang="en-US" sz="1400" b="0">
                <a:solidFill>
                  <a:srgbClr val="525252"/>
                </a:solidFill>
                <a:latin typeface="IBM Plex Sans"/>
                <a:ea typeface="IBM Plex Sans"/>
              </a:rPr>
              <a:t>Creates users and builds, assigns people to roles</a:t>
            </a:r>
          </a:p>
        </p:txBody>
      </p:sp>
      <p:sp>
        <p:nvSpPr>
          <p:cNvPr id="100053" name="TextBox 8"/>
          <p:cNvSpPr/>
          <p:nvPr/>
        </p:nvSpPr>
        <p:spPr>
          <a:xfrm xmlns:a="http://schemas.openxmlformats.org/drawingml/2006/main">
            <a:off x="4402667" y="1422400"/>
            <a:ext cx="3386667" cy="1905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4F4"/>
          </a:solidFill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/>
            <a:endParaRPr lang="en-US" sz="1600" b="0">
              <a:solidFill>
                <a:srgbClr val="161616"/>
              </a:solidFill>
              <a:latin typeface="IBM Plex Sans"/>
              <a:ea typeface="IBM Plex Sans"/>
            </a:endParaRPr>
          </a:p>
        </p:txBody>
      </p:sp>
      <p:sp>
        <p:nvSpPr>
          <p:cNvPr id="100054" name="TextBox 9"/>
          <p:cNvSpPr/>
          <p:nvPr/>
        </p:nvSpPr>
        <p:spPr>
          <a:xfrm xmlns:a="http://schemas.openxmlformats.org/drawingml/2006/main">
            <a:off x="4402667" y="1422400"/>
            <a:ext cx="3386667" cy="6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3FFC"/>
          </a:solidFill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/>
            <a:endParaRPr lang="en-US" sz="1600" b="0">
              <a:solidFill>
                <a:srgbClr val="161616"/>
              </a:solidFill>
              <a:latin typeface="IBM Plex Sans"/>
              <a:ea typeface="IBM Plex Sans"/>
            </a:endParaRPr>
          </a:p>
        </p:txBody>
      </p:sp>
      <p:sp>
        <p:nvSpPr>
          <p:cNvPr id="100055" name="TextBox 10"/>
          <p:cNvSpPr/>
          <p:nvPr/>
        </p:nvSpPr>
        <p:spPr>
          <a:xfrm xmlns:a="http://schemas.openxmlformats.org/drawingml/2006/main">
            <a:off x="4656667" y="1727200"/>
            <a:ext cx="508000" cy="508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A3FFC"/>
          </a:solidFill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/>
            <a:r>
              <a:rPr lang="en-US" sz="1800" b="1">
                <a:solidFill>
                  <a:srgbClr val="FFFFFF"/>
                </a:solidFill>
                <a:latin typeface="IBM Plex Sans"/>
                <a:ea typeface="IBM Plex Sans"/>
              </a:rPr>
              <a:t>A</a:t>
            </a:r>
          </a:p>
        </p:txBody>
      </p:sp>
      <p:sp>
        <p:nvSpPr>
          <p:cNvPr id="100056" name="TextBox 11"/>
          <p:cNvSpPr/>
          <p:nvPr/>
        </p:nvSpPr>
        <p:spPr>
          <a:xfrm xmlns:a="http://schemas.openxmlformats.org/drawingml/2006/main">
            <a:off x="5317067" y="1828800"/>
            <a:ext cx="2243667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/>
            <a:r>
              <a:rPr lang="en-US" sz="1600" b="1">
                <a:solidFill>
                  <a:srgbClr val="161616"/>
                </a:solidFill>
                <a:latin typeface="IBM Plex Sans"/>
                <a:ea typeface="IBM Plex Sans"/>
              </a:rPr>
              <a:t>AUDITOR</a:t>
            </a:r>
          </a:p>
        </p:txBody>
      </p:sp>
      <p:sp>
        <p:nvSpPr>
          <p:cNvPr id="100057" name="TextBox 12"/>
          <p:cNvSpPr/>
          <p:nvPr/>
        </p:nvSpPr>
        <p:spPr>
          <a:xfrm xmlns:a="http://schemas.openxmlformats.org/drawingml/2006/main">
            <a:off x="4656667" y="2438400"/>
            <a:ext cx="2878667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/>
            <a:r>
              <a:rPr lang="en-US" sz="1400" b="0">
                <a:solidFill>
                  <a:srgbClr val="525252"/>
                </a:solidFill>
                <a:latin typeface="IBM Plex Sans"/>
                <a:ea typeface="IBM Plex Sans"/>
              </a:rPr>
              <a:t>Registers keys, finalizes the contract, verifies attestation</a:t>
            </a:r>
          </a:p>
        </p:txBody>
      </p:sp>
      <p:sp>
        <p:nvSpPr>
          <p:cNvPr id="100058" name="TextBox 13"/>
          <p:cNvSpPr/>
          <p:nvPr/>
        </p:nvSpPr>
        <p:spPr>
          <a:xfrm xmlns:a="http://schemas.openxmlformats.org/drawingml/2006/main">
            <a:off x="8043333" y="1422400"/>
            <a:ext cx="3386667" cy="1905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4F4"/>
          </a:solidFill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/>
            <a:endParaRPr lang="en-US" sz="1600" b="0">
              <a:solidFill>
                <a:srgbClr val="161616"/>
              </a:solidFill>
              <a:latin typeface="IBM Plex Sans"/>
              <a:ea typeface="IBM Plex Sans"/>
            </a:endParaRPr>
          </a:p>
        </p:txBody>
      </p:sp>
      <p:sp>
        <p:nvSpPr>
          <p:cNvPr id="100059" name="TextBox 14"/>
          <p:cNvSpPr/>
          <p:nvPr/>
        </p:nvSpPr>
        <p:spPr>
          <a:xfrm xmlns:a="http://schemas.openxmlformats.org/drawingml/2006/main">
            <a:off x="8043333" y="1422400"/>
            <a:ext cx="3386667" cy="6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92E8"/>
          </a:solidFill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/>
            <a:endParaRPr lang="en-US" sz="1600" b="0">
              <a:solidFill>
                <a:srgbClr val="161616"/>
              </a:solidFill>
              <a:latin typeface="IBM Plex Sans"/>
              <a:ea typeface="IBM Plex Sans"/>
            </a:endParaRPr>
          </a:p>
        </p:txBody>
      </p:sp>
      <p:sp>
        <p:nvSpPr>
          <p:cNvPr id="100060" name="TextBox 15"/>
          <p:cNvSpPr/>
          <p:nvPr/>
        </p:nvSpPr>
        <p:spPr>
          <a:xfrm xmlns:a="http://schemas.openxmlformats.org/drawingml/2006/main">
            <a:off x="8297333" y="1727200"/>
            <a:ext cx="508000" cy="508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92E8"/>
          </a:solidFill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/>
            <a:r>
              <a:rPr lang="en-US" sz="1800" b="1">
                <a:solidFill>
                  <a:srgbClr val="FFFFFF"/>
                </a:solidFill>
                <a:latin typeface="IBM Plex Sans"/>
                <a:ea typeface="IBM Plex Sans"/>
              </a:rPr>
              <a:t>S</a:t>
            </a:r>
          </a:p>
        </p:txBody>
      </p:sp>
      <p:sp>
        <p:nvSpPr>
          <p:cNvPr id="100061" name="TextBox 16"/>
          <p:cNvSpPr/>
          <p:nvPr/>
        </p:nvSpPr>
        <p:spPr>
          <a:xfrm xmlns:a="http://schemas.openxmlformats.org/drawingml/2006/main">
            <a:off x="8957733" y="1828800"/>
            <a:ext cx="2243667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/>
            <a:r>
              <a:rPr lang="en-US" sz="1600" b="1">
                <a:solidFill>
                  <a:srgbClr val="161616"/>
                </a:solidFill>
                <a:latin typeface="IBM Plex Sans"/>
                <a:ea typeface="IBM Plex Sans"/>
              </a:rPr>
              <a:t>SOLUTION PROVIDER</a:t>
            </a:r>
          </a:p>
        </p:txBody>
      </p:sp>
      <p:sp>
        <p:nvSpPr>
          <p:cNvPr id="100062" name="TextBox 17"/>
          <p:cNvSpPr/>
          <p:nvPr/>
        </p:nvSpPr>
        <p:spPr>
          <a:xfrm xmlns:a="http://schemas.openxmlformats.org/drawingml/2006/main">
            <a:off x="8297333" y="2438400"/>
            <a:ext cx="2878667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/>
            <a:r>
              <a:rPr lang="en-US" sz="1400" b="0">
                <a:solidFill>
                  <a:srgbClr val="525252"/>
                </a:solidFill>
                <a:latin typeface="IBM Plex Sans"/>
                <a:ea typeface="IBM Plex Sans"/>
              </a:rPr>
              <a:t>Submits the workload section</a:t>
            </a:r>
          </a:p>
        </p:txBody>
      </p:sp>
      <p:sp>
        <p:nvSpPr>
          <p:cNvPr id="100063" name="TextBox 18"/>
          <p:cNvSpPr/>
          <p:nvPr/>
        </p:nvSpPr>
        <p:spPr>
          <a:xfrm xmlns:a="http://schemas.openxmlformats.org/drawingml/2006/main">
            <a:off x="762000" y="3581400"/>
            <a:ext cx="3386667" cy="1905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4F4"/>
          </a:solidFill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/>
            <a:endParaRPr lang="en-US" sz="1600" b="0">
              <a:solidFill>
                <a:srgbClr val="161616"/>
              </a:solidFill>
              <a:latin typeface="IBM Plex Sans"/>
              <a:ea typeface="IBM Plex Sans"/>
            </a:endParaRPr>
          </a:p>
        </p:txBody>
      </p:sp>
      <p:sp>
        <p:nvSpPr>
          <p:cNvPr id="100064" name="TextBox 19"/>
          <p:cNvSpPr/>
          <p:nvPr/>
        </p:nvSpPr>
        <p:spPr>
          <a:xfrm xmlns:a="http://schemas.openxmlformats.org/drawingml/2006/main">
            <a:off x="762000" y="3581400"/>
            <a:ext cx="3386667" cy="6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D9A"/>
          </a:solidFill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/>
            <a:endParaRPr lang="en-US" sz="1600" b="0">
              <a:solidFill>
                <a:srgbClr val="161616"/>
              </a:solidFill>
              <a:latin typeface="IBM Plex Sans"/>
              <a:ea typeface="IBM Plex Sans"/>
            </a:endParaRPr>
          </a:p>
        </p:txBody>
      </p:sp>
      <p:sp>
        <p:nvSpPr>
          <p:cNvPr id="100065" name="TextBox 20"/>
          <p:cNvSpPr/>
          <p:nvPr/>
        </p:nvSpPr>
        <p:spPr>
          <a:xfrm xmlns:a="http://schemas.openxmlformats.org/drawingml/2006/main">
            <a:off x="1016000" y="3886200"/>
            <a:ext cx="508000" cy="508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9D9A"/>
          </a:solidFill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/>
            <a:r>
              <a:rPr lang="en-US" sz="1800" b="1">
                <a:solidFill>
                  <a:srgbClr val="FFFFFF"/>
                </a:solidFill>
                <a:latin typeface="IBM Plex Sans"/>
                <a:ea typeface="IBM Plex Sans"/>
              </a:rPr>
              <a:t>D</a:t>
            </a:r>
          </a:p>
        </p:txBody>
      </p:sp>
      <p:sp>
        <p:nvSpPr>
          <p:cNvPr id="100066" name="TextBox 21"/>
          <p:cNvSpPr/>
          <p:nvPr/>
        </p:nvSpPr>
        <p:spPr>
          <a:xfrm xmlns:a="http://schemas.openxmlformats.org/drawingml/2006/main">
            <a:off x="1676400" y="3987800"/>
            <a:ext cx="2243667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/>
            <a:r>
              <a:rPr lang="en-US" sz="1600" b="1">
                <a:solidFill>
                  <a:srgbClr val="161616"/>
                </a:solidFill>
                <a:latin typeface="IBM Plex Sans"/>
                <a:ea typeface="IBM Plex Sans"/>
              </a:rPr>
              <a:t>DATA OWNER</a:t>
            </a:r>
          </a:p>
        </p:txBody>
      </p:sp>
      <p:sp>
        <p:nvSpPr>
          <p:cNvPr id="100067" name="TextBox 22"/>
          <p:cNvSpPr/>
          <p:nvPr/>
        </p:nvSpPr>
        <p:spPr>
          <a:xfrm xmlns:a="http://schemas.openxmlformats.org/drawingml/2006/main">
            <a:off x="1016000" y="4597400"/>
            <a:ext cx="2878667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/>
            <a:r>
              <a:rPr lang="en-US" sz="1400" b="0">
                <a:solidFill>
                  <a:srgbClr val="525252"/>
                </a:solidFill>
                <a:latin typeface="IBM Plex Sans"/>
                <a:ea typeface="IBM Plex Sans"/>
              </a:rPr>
              <a:t>Submits the environment section, uploads attestation evidence</a:t>
            </a:r>
          </a:p>
        </p:txBody>
      </p:sp>
      <p:sp>
        <p:nvSpPr>
          <p:cNvPr id="100068" name="TextBox 23"/>
          <p:cNvSpPr/>
          <p:nvPr/>
        </p:nvSpPr>
        <p:spPr>
          <a:xfrm xmlns:a="http://schemas.openxmlformats.org/drawingml/2006/main">
            <a:off x="4402667" y="3581400"/>
            <a:ext cx="3386667" cy="1905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4F4"/>
          </a:solidFill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/>
            <a:endParaRPr lang="en-US" sz="1600" b="0">
              <a:solidFill>
                <a:srgbClr val="161616"/>
              </a:solidFill>
              <a:latin typeface="IBM Plex Sans"/>
              <a:ea typeface="IBM Plex Sans"/>
            </a:endParaRPr>
          </a:p>
        </p:txBody>
      </p:sp>
      <p:sp>
        <p:nvSpPr>
          <p:cNvPr id="100069" name="TextBox 24"/>
          <p:cNvSpPr/>
          <p:nvPr/>
        </p:nvSpPr>
        <p:spPr>
          <a:xfrm xmlns:a="http://schemas.openxmlformats.org/drawingml/2006/main">
            <a:off x="4402667" y="3581400"/>
            <a:ext cx="3386667" cy="6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A148"/>
          </a:solidFill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/>
            <a:endParaRPr lang="en-US" sz="1600" b="0">
              <a:solidFill>
                <a:srgbClr val="161616"/>
              </a:solidFill>
              <a:latin typeface="IBM Plex Sans"/>
              <a:ea typeface="IBM Plex Sans"/>
            </a:endParaRPr>
          </a:p>
        </p:txBody>
      </p:sp>
      <p:sp>
        <p:nvSpPr>
          <p:cNvPr id="100070" name="TextBox 25"/>
          <p:cNvSpPr/>
          <p:nvPr/>
        </p:nvSpPr>
        <p:spPr>
          <a:xfrm xmlns:a="http://schemas.openxmlformats.org/drawingml/2006/main">
            <a:off x="4656667" y="3886200"/>
            <a:ext cx="508000" cy="508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A148"/>
          </a:solidFill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/>
            <a:r>
              <a:rPr lang="en-US" sz="1800" b="1">
                <a:solidFill>
                  <a:srgbClr val="FFFFFF"/>
                </a:solidFill>
                <a:latin typeface="IBM Plex Sans"/>
                <a:ea typeface="IBM Plex Sans"/>
              </a:rPr>
              <a:t>E</a:t>
            </a:r>
          </a:p>
        </p:txBody>
      </p:sp>
      <p:sp>
        <p:nvSpPr>
          <p:cNvPr id="100071" name="TextBox 26"/>
          <p:cNvSpPr/>
          <p:nvPr/>
        </p:nvSpPr>
        <p:spPr>
          <a:xfrm xmlns:a="http://schemas.openxmlformats.org/drawingml/2006/main">
            <a:off x="5317067" y="3987800"/>
            <a:ext cx="2243667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/>
            <a:r>
              <a:rPr lang="en-US" sz="1600" b="1">
                <a:solidFill>
                  <a:srgbClr val="161616"/>
                </a:solidFill>
                <a:latin typeface="IBM Plex Sans"/>
                <a:ea typeface="IBM Plex Sans"/>
              </a:rPr>
              <a:t>ENV OPERATOR</a:t>
            </a:r>
          </a:p>
        </p:txBody>
      </p:sp>
      <p:sp>
        <p:nvSpPr>
          <p:cNvPr id="100072" name="TextBox 27"/>
          <p:cNvSpPr/>
          <p:nvPr/>
        </p:nvSpPr>
        <p:spPr>
          <a:xfrm xmlns:a="http://schemas.openxmlformats.org/drawingml/2006/main">
            <a:off x="4656667" y="4597400"/>
            <a:ext cx="2878667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/>
            <a:r>
              <a:rPr lang="en-US" sz="1400" b="0">
                <a:solidFill>
                  <a:srgbClr val="525252"/>
                </a:solidFill>
                <a:latin typeface="IBM Plex Sans"/>
                <a:ea typeface="IBM Plex Sans"/>
              </a:rPr>
              <a:t>Downloads the contract once and acknowledges it</a:t>
            </a:r>
          </a:p>
        </p:txBody>
      </p:sp>
      <p:sp>
        <p:nvSpPr>
          <p:cNvPr id="100073" name="TextBox 28"/>
          <p:cNvSpPr/>
          <p:nvPr/>
        </p:nvSpPr>
        <p:spPr>
          <a:xfrm xmlns:a="http://schemas.openxmlformats.org/drawingml/2006/main">
            <a:off x="8043333" y="3581400"/>
            <a:ext cx="3386667" cy="1905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4F4"/>
          </a:solidFill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/>
            <a:endParaRPr lang="en-US" sz="1600" b="0">
              <a:solidFill>
                <a:srgbClr val="161616"/>
              </a:solidFill>
              <a:latin typeface="IBM Plex Sans"/>
              <a:ea typeface="IBM Plex Sans"/>
            </a:endParaRPr>
          </a:p>
        </p:txBody>
      </p:sp>
      <p:sp>
        <p:nvSpPr>
          <p:cNvPr id="100074" name="TextBox 29"/>
          <p:cNvSpPr/>
          <p:nvPr/>
        </p:nvSpPr>
        <p:spPr>
          <a:xfrm xmlns:a="http://schemas.openxmlformats.org/drawingml/2006/main">
            <a:off x="8043333" y="3581400"/>
            <a:ext cx="3386667" cy="6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5252"/>
          </a:solidFill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/>
            <a:endParaRPr lang="en-US" sz="1600" b="0">
              <a:solidFill>
                <a:srgbClr val="161616"/>
              </a:solidFill>
              <a:latin typeface="IBM Plex Sans"/>
              <a:ea typeface="IBM Plex Sans"/>
            </a:endParaRPr>
          </a:p>
        </p:txBody>
      </p:sp>
      <p:sp>
        <p:nvSpPr>
          <p:cNvPr id="100075" name="TextBox 30"/>
          <p:cNvSpPr/>
          <p:nvPr/>
        </p:nvSpPr>
        <p:spPr>
          <a:xfrm xmlns:a="http://schemas.openxmlformats.org/drawingml/2006/main">
            <a:off x="8297333" y="3886200"/>
            <a:ext cx="508000" cy="508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25252"/>
          </a:solidFill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/>
            <a:r>
              <a:rPr lang="en-US" sz="1800" b="1">
                <a:solidFill>
                  <a:srgbClr val="FFFFFF"/>
                </a:solidFill>
                <a:latin typeface="IBM Plex Sans"/>
                <a:ea typeface="IBM Plex Sans"/>
              </a:rPr>
              <a:t>V</a:t>
            </a:r>
          </a:p>
        </p:txBody>
      </p:sp>
      <p:sp>
        <p:nvSpPr>
          <p:cNvPr id="100076" name="TextBox 31"/>
          <p:cNvSpPr/>
          <p:nvPr/>
        </p:nvSpPr>
        <p:spPr>
          <a:xfrm xmlns:a="http://schemas.openxmlformats.org/drawingml/2006/main">
            <a:off x="8957733" y="3987800"/>
            <a:ext cx="2243667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/>
            <a:r>
              <a:rPr lang="en-US" sz="1600" b="1">
                <a:solidFill>
                  <a:srgbClr val="161616"/>
                </a:solidFill>
                <a:latin typeface="IBM Plex Sans"/>
                <a:ea typeface="IBM Plex Sans"/>
              </a:rPr>
              <a:t>VIEWER</a:t>
            </a:r>
          </a:p>
        </p:txBody>
      </p:sp>
      <p:sp>
        <p:nvSpPr>
          <p:cNvPr id="100077" name="TextBox 32"/>
          <p:cNvSpPr/>
          <p:nvPr/>
        </p:nvSpPr>
        <p:spPr>
          <a:xfrm xmlns:a="http://schemas.openxmlformats.org/drawingml/2006/main">
            <a:off x="8297333" y="4597400"/>
            <a:ext cx="2878667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/>
            <a:r>
              <a:rPr lang="en-US" sz="1400" b="0">
                <a:solidFill>
                  <a:srgbClr val="525252"/>
                </a:solidFill>
                <a:latin typeface="IBM Plex Sans"/>
                <a:ea typeface="IBM Plex Sans"/>
              </a:rPr>
              <a:t>Read-only access to builds and audit logs</a:t>
            </a:r>
          </a:p>
        </p:txBody>
      </p:sp>
      <p:sp>
        <p:nvSpPr>
          <p:cNvPr id="100078" name="TextBox 33"/>
          <p:cNvSpPr/>
          <p:nvPr/>
        </p:nvSpPr>
        <p:spPr>
          <a:xfrm xmlns:a="http://schemas.openxmlformats.org/drawingml/2006/main">
            <a:off x="762000" y="6324600"/>
            <a:ext cx="5080000" cy="17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/>
            <a:r>
              <a:rPr lang="en-US" sz="1000" b="0">
                <a:solidFill>
                  <a:srgbClr val="525252"/>
                </a:solidFill>
                <a:latin typeface="IBM Plex Sans"/>
                <a:ea typeface="IBM Plex Sans"/>
              </a:rPr>
              <a:t>Contract Manager · Intern Onboarding</a:t>
            </a:r>
          </a:p>
        </p:txBody>
      </p:sp>
      <p:sp>
        <p:nvSpPr>
          <p:cNvPr id="100079" name="TextBox 34"/>
          <p:cNvSpPr/>
          <p:nvPr/>
        </p:nvSpPr>
        <p:spPr>
          <a:xfrm xmlns:a="http://schemas.openxmlformats.org/drawingml/2006/main">
            <a:off x="10922000" y="6324600"/>
            <a:ext cx="508000" cy="17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/>
            <a:r>
              <a:rPr lang="en-US" sz="1000" b="0">
                <a:solidFill>
                  <a:srgbClr val="525252"/>
                </a:solidFill>
                <a:latin typeface="IBM Plex Sans"/>
                <a:ea typeface="IBM Plex Sans"/>
              </a:rPr>
              <a:t>4</a:t>
            </a:r>
          </a:p>
        </p:txBody>
      </p:sp>
    </p:spTree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100080" name="TextBox 1"/>
          <p:cNvSpPr/>
          <p:nvPr/>
        </p:nvSpPr>
        <p:spPr>
          <a:xfrm xmlns:a="http://schemas.openxmlformats.org/drawingml/2006/main">
            <a:off x="762000" y="571500"/>
            <a:ext cx="10668000" cy="20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/>
            <a:r>
              <a:rPr lang="en-US" sz="1100" b="1">
                <a:solidFill>
                  <a:srgbClr val="0F62FE"/>
                </a:solidFill>
                <a:latin typeface="IBM Plex Sans"/>
                <a:ea typeface="IBM Plex Sans"/>
              </a:rPr>
              <a:t>THE BIG PICTURE</a:t>
            </a:r>
          </a:p>
        </p:txBody>
      </p:sp>
      <p:sp>
        <p:nvSpPr>
          <p:cNvPr id="100081" name="TextBox 2"/>
          <p:cNvSpPr/>
          <p:nvPr/>
        </p:nvSpPr>
        <p:spPr>
          <a:xfrm xmlns:a="http://schemas.openxmlformats.org/drawingml/2006/main">
            <a:off x="762000" y="800100"/>
            <a:ext cx="10668000" cy="431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/>
            <a:r>
              <a:rPr lang="en-US" sz="2400" b="1">
                <a:solidFill>
                  <a:srgbClr val="161616"/>
                </a:solidFill>
                <a:latin typeface="IBM Plex Sans"/>
                <a:ea typeface="IBM Plex Sans"/>
              </a:rPr>
              <a:t>System architecture</a:t>
            </a:r>
          </a:p>
        </p:txBody>
      </p:sp>
      <p:sp>
        <p:nvSpPr>
          <p:cNvPr id="100082" name="TextBox 3"/>
          <p:cNvSpPr/>
          <p:nvPr/>
        </p:nvSpPr>
        <p:spPr>
          <a:xfrm xmlns:a="http://schemas.openxmlformats.org/drawingml/2006/main">
            <a:off x="762000" y="1905000"/>
            <a:ext cx="236220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4F4"/>
          </a:solidFill>
          <a:ln xmlns:a="http://schemas.openxmlformats.org/drawingml/2006/main" w="19050">
            <a:solidFill>
              <a:srgbClr val="1192E8"/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/>
            <a:endParaRPr lang="en-US" sz="1600" b="0">
              <a:solidFill>
                <a:srgbClr val="161616"/>
              </a:solidFill>
              <a:latin typeface="IBM Plex Sans"/>
              <a:ea typeface="IBM Plex Sans"/>
            </a:endParaRPr>
          </a:p>
        </p:txBody>
      </p:sp>
      <p:sp>
        <p:nvSpPr>
          <p:cNvPr id="100083" name="TextBox 4"/>
          <p:cNvSpPr/>
          <p:nvPr/>
        </p:nvSpPr>
        <p:spPr>
          <a:xfrm xmlns:a="http://schemas.openxmlformats.org/drawingml/2006/main">
            <a:off x="939800" y="2108200"/>
            <a:ext cx="2006600" cy="558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/>
            <a:r>
              <a:rPr lang="en-US" sz="1500" b="1">
                <a:solidFill>
                  <a:srgbClr val="1192E8"/>
                </a:solidFill>
                <a:latin typeface="IBM Plex Sans"/>
                <a:ea typeface="IBM Plex Sans"/>
              </a:rPr>
              <a:t>Electron desktop app</a:t>
            </a:r>
          </a:p>
        </p:txBody>
      </p:sp>
      <p:sp>
        <p:nvSpPr>
          <p:cNvPr id="100084" name="TextBox 5"/>
          <p:cNvSpPr/>
          <p:nvPr/>
        </p:nvSpPr>
        <p:spPr>
          <a:xfrm xmlns:a="http://schemas.openxmlformats.org/drawingml/2006/main">
            <a:off x="939800" y="2768600"/>
            <a:ext cx="200660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</a:pPr>
            <a:r>
              <a:rPr lang="en-US" sz="1200" b="0">
                <a:solidFill>
                  <a:srgbClr val="525252"/>
                </a:solidFill>
                <a:latin typeface="IBM Plex Sans"/>
                <a:ea typeface="IBM Plex Sans"/>
              </a:rPr>
              <a:t>React + Carbon UI</a:t>
            </a:r>
          </a:p>
          <a:p xmlns:a="http://schemas.openxmlformats.org/drawingml/2006/main">
            <a:pPr algn="l">
              <a:lnSpc>
                <a:spcPct val="115000"/>
              </a:lnSpc>
            </a:pPr>
            <a:r>
              <a:rPr lang="en-US" sz="1200" b="0">
                <a:solidFill>
                  <a:srgbClr val="525252"/>
                </a:solidFill>
                <a:latin typeface="IBM Plex Sans"/>
                <a:ea typeface="IBM Plex Sans"/>
              </a:rPr>
              <a:t>Identity keys (RSA-4096) stay here</a:t>
            </a:r>
          </a:p>
          <a:p xmlns:a="http://schemas.openxmlformats.org/drawingml/2006/main">
            <a:pPr algn="l">
              <a:lnSpc>
                <a:spcPct val="115000"/>
              </a:lnSpc>
            </a:pPr>
            <a:r>
              <a:rPr lang="en-US" sz="1200" b="0">
                <a:solidFill>
                  <a:srgbClr val="525252"/>
                </a:solidFill>
                <a:latin typeface="IBM Plex Sans"/>
                <a:ea typeface="IBM Plex Sans"/>
              </a:rPr>
              <a:t>Signs every mutating request</a:t>
            </a:r>
          </a:p>
        </p:txBody>
      </p:sp>
      <p:sp>
        <p:nvSpPr>
          <p:cNvPr id="100085" name="TextBox 6"/>
          <p:cNvSpPr/>
          <p:nvPr/>
        </p:nvSpPr>
        <p:spPr>
          <a:xfrm xmlns:a="http://schemas.openxmlformats.org/drawingml/2006/main">
            <a:off x="3175000" y="2921000"/>
            <a:ext cx="304800" cy="2540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25252"/>
          </a:solidFill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/>
            <a:endParaRPr lang="en-US" sz="1600" b="0">
              <a:solidFill>
                <a:srgbClr val="161616"/>
              </a:solidFill>
              <a:latin typeface="IBM Plex Sans"/>
              <a:ea typeface="IBM Plex Sans"/>
            </a:endParaRPr>
          </a:p>
        </p:txBody>
      </p:sp>
      <p:sp>
        <p:nvSpPr>
          <p:cNvPr id="100086" name="TextBox 7"/>
          <p:cNvSpPr/>
          <p:nvPr/>
        </p:nvSpPr>
        <p:spPr>
          <a:xfrm xmlns:a="http://schemas.openxmlformats.org/drawingml/2006/main">
            <a:off x="3530600" y="1905000"/>
            <a:ext cx="236220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4F4"/>
          </a:solidFill>
          <a:ln xmlns:a="http://schemas.openxmlformats.org/drawingml/2006/main" w="19050">
            <a:solidFill>
              <a:srgbClr val="161616"/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/>
            <a:endParaRPr lang="en-US" sz="1600" b="0">
              <a:solidFill>
                <a:srgbClr val="161616"/>
              </a:solidFill>
              <a:latin typeface="IBM Plex Sans"/>
              <a:ea typeface="IBM Plex Sans"/>
            </a:endParaRPr>
          </a:p>
        </p:txBody>
      </p:sp>
      <p:sp>
        <p:nvSpPr>
          <p:cNvPr id="100087" name="TextBox 8"/>
          <p:cNvSpPr/>
          <p:nvPr/>
        </p:nvSpPr>
        <p:spPr>
          <a:xfrm xmlns:a="http://schemas.openxmlformats.org/drawingml/2006/main">
            <a:off x="3708400" y="2108200"/>
            <a:ext cx="2006600" cy="558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/>
            <a:r>
              <a:rPr lang="en-US" sz="1500" b="1">
                <a:solidFill>
                  <a:srgbClr val="161616"/>
                </a:solidFill>
                <a:latin typeface="IBM Plex Sans"/>
                <a:ea typeface="IBM Plex Sans"/>
              </a:rPr>
              <a:t>nginx reverse proxy</a:t>
            </a:r>
          </a:p>
        </p:txBody>
      </p:sp>
      <p:sp>
        <p:nvSpPr>
          <p:cNvPr id="100088" name="TextBox 9"/>
          <p:cNvSpPr/>
          <p:nvPr/>
        </p:nvSpPr>
        <p:spPr>
          <a:xfrm xmlns:a="http://schemas.openxmlformats.org/drawingml/2006/main">
            <a:off x="3708400" y="2768600"/>
            <a:ext cx="200660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</a:pPr>
            <a:r>
              <a:rPr lang="en-US" sz="1200" b="0">
                <a:solidFill>
                  <a:srgbClr val="525252"/>
                </a:solidFill>
                <a:latin typeface="IBM Plex Sans"/>
                <a:ea typeface="IBM Plex Sans"/>
              </a:rPr>
              <a:t>TLS termination</a:t>
            </a:r>
          </a:p>
          <a:p xmlns:a="http://schemas.openxmlformats.org/drawingml/2006/main">
            <a:pPr algn="l">
              <a:lnSpc>
                <a:spcPct val="115000"/>
              </a:lnSpc>
            </a:pPr>
            <a:r>
              <a:rPr lang="en-US" sz="1200" b="0">
                <a:solidFill>
                  <a:srgbClr val="525252"/>
                </a:solidFill>
                <a:latin typeface="IBM Plex Sans"/>
                <a:ea typeface="IBM Plex Sans"/>
              </a:rPr>
              <a:t>Rate limits</a:t>
            </a:r>
          </a:p>
          <a:p xmlns:a="http://schemas.openxmlformats.org/drawingml/2006/main">
            <a:pPr algn="l">
              <a:lnSpc>
                <a:spcPct val="115000"/>
              </a:lnSpc>
            </a:pPr>
            <a:r>
              <a:rPr lang="en-US" sz="1200" b="0">
                <a:solidFill>
                  <a:srgbClr val="525252"/>
                </a:solidFill>
                <a:latin typeface="IBM Plex Sans"/>
                <a:ea typeface="IBM Plex Sans"/>
              </a:rPr>
              <a:t>Security headers</a:t>
            </a:r>
          </a:p>
        </p:txBody>
      </p:sp>
      <p:sp>
        <p:nvSpPr>
          <p:cNvPr id="100089" name="TextBox 10"/>
          <p:cNvSpPr/>
          <p:nvPr/>
        </p:nvSpPr>
        <p:spPr>
          <a:xfrm xmlns:a="http://schemas.openxmlformats.org/drawingml/2006/main">
            <a:off x="5943600" y="2921000"/>
            <a:ext cx="304800" cy="2540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25252"/>
          </a:solidFill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/>
            <a:endParaRPr lang="en-US" sz="1600" b="0">
              <a:solidFill>
                <a:srgbClr val="161616"/>
              </a:solidFill>
              <a:latin typeface="IBM Plex Sans"/>
              <a:ea typeface="IBM Plex Sans"/>
            </a:endParaRPr>
          </a:p>
        </p:txBody>
      </p:sp>
      <p:sp>
        <p:nvSpPr>
          <p:cNvPr id="100090" name="TextBox 11"/>
          <p:cNvSpPr/>
          <p:nvPr/>
        </p:nvSpPr>
        <p:spPr>
          <a:xfrm xmlns:a="http://schemas.openxmlformats.org/drawingml/2006/main">
            <a:off x="6299200" y="1905000"/>
            <a:ext cx="236220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5FF"/>
          </a:solidFill>
          <a:ln xmlns:a="http://schemas.openxmlformats.org/drawingml/2006/main" w="19050">
            <a:solidFill>
              <a:srgbClr val="0F62FE"/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/>
            <a:endParaRPr lang="en-US" sz="1600" b="0">
              <a:solidFill>
                <a:srgbClr val="161616"/>
              </a:solidFill>
              <a:latin typeface="IBM Plex Sans"/>
              <a:ea typeface="IBM Plex Sans"/>
            </a:endParaRPr>
          </a:p>
        </p:txBody>
      </p:sp>
      <p:sp>
        <p:nvSpPr>
          <p:cNvPr id="100091" name="TextBox 12"/>
          <p:cNvSpPr/>
          <p:nvPr/>
        </p:nvSpPr>
        <p:spPr>
          <a:xfrm xmlns:a="http://schemas.openxmlformats.org/drawingml/2006/main">
            <a:off x="6477000" y="2108200"/>
            <a:ext cx="2006600" cy="558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/>
            <a:r>
              <a:rPr lang="en-US" sz="1500" b="1">
                <a:solidFill>
                  <a:srgbClr val="0F62FE"/>
                </a:solidFill>
                <a:latin typeface="IBM Plex Sans"/>
                <a:ea typeface="IBM Plex Sans"/>
              </a:rPr>
              <a:t>Go backend (this repo)</a:t>
            </a:r>
          </a:p>
        </p:txBody>
      </p:sp>
      <p:sp>
        <p:nvSpPr>
          <p:cNvPr id="100092" name="TextBox 13"/>
          <p:cNvSpPr/>
          <p:nvPr/>
        </p:nvSpPr>
        <p:spPr>
          <a:xfrm xmlns:a="http://schemas.openxmlformats.org/drawingml/2006/main">
            <a:off x="6477000" y="2768600"/>
            <a:ext cx="200660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</a:pPr>
            <a:r>
              <a:rPr lang="en-US" sz="1200" b="0">
                <a:solidFill>
                  <a:srgbClr val="525252"/>
                </a:solidFill>
                <a:latin typeface="IBM Plex Sans"/>
                <a:ea typeface="IBM Plex Sans"/>
              </a:rPr>
              <a:t>Chi router, auth, RBAC</a:t>
            </a:r>
          </a:p>
          <a:p xmlns:a="http://schemas.openxmlformats.org/drawingml/2006/main">
            <a:pPr algn="l">
              <a:lnSpc>
                <a:spcPct val="115000"/>
              </a:lnSpc>
            </a:pPr>
            <a:r>
              <a:rPr lang="en-US" sz="1200" b="0">
                <a:solidFill>
                  <a:srgbClr val="525252"/>
                </a:solidFill>
                <a:latin typeface="IBM Plex Sans"/>
                <a:ea typeface="IBM Plex Sans"/>
              </a:rPr>
              <a:t>Workflow + audit chain</a:t>
            </a:r>
          </a:p>
          <a:p xmlns:a="http://schemas.openxmlformats.org/drawingml/2006/main">
            <a:pPr algn="l">
              <a:lnSpc>
                <a:spcPct val="115000"/>
              </a:lnSpc>
            </a:pPr>
            <a:r>
              <a:rPr lang="en-US" sz="1200" b="0">
                <a:solidFill>
                  <a:srgbClr val="525252"/>
                </a:solidFill>
                <a:latin typeface="IBM Plex Sans"/>
                <a:ea typeface="IBM Plex Sans"/>
              </a:rPr>
              <a:t>contract-go cryptography</a:t>
            </a:r>
          </a:p>
        </p:txBody>
      </p:sp>
      <p:sp>
        <p:nvSpPr>
          <p:cNvPr id="100093" name="TextBox 14"/>
          <p:cNvSpPr/>
          <p:nvPr/>
        </p:nvSpPr>
        <p:spPr>
          <a:xfrm xmlns:a="http://schemas.openxmlformats.org/drawingml/2006/main">
            <a:off x="8712200" y="2921000"/>
            <a:ext cx="304800" cy="2540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25252"/>
          </a:solidFill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/>
            <a:endParaRPr lang="en-US" sz="1600" b="0">
              <a:solidFill>
                <a:srgbClr val="161616"/>
              </a:solidFill>
              <a:latin typeface="IBM Plex Sans"/>
              <a:ea typeface="IBM Plex Sans"/>
            </a:endParaRPr>
          </a:p>
        </p:txBody>
      </p:sp>
      <p:sp>
        <p:nvSpPr>
          <p:cNvPr id="100094" name="TextBox 15"/>
          <p:cNvSpPr/>
          <p:nvPr/>
        </p:nvSpPr>
        <p:spPr>
          <a:xfrm xmlns:a="http://schemas.openxmlformats.org/drawingml/2006/main">
            <a:off x="9067800" y="1905000"/>
            <a:ext cx="236220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4F4"/>
          </a:solidFill>
          <a:ln xmlns:a="http://schemas.openxmlformats.org/drawingml/2006/main" w="19050">
            <a:solidFill>
              <a:srgbClr val="009D9A"/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/>
            <a:endParaRPr lang="en-US" sz="1600" b="0">
              <a:solidFill>
                <a:srgbClr val="161616"/>
              </a:solidFill>
              <a:latin typeface="IBM Plex Sans"/>
              <a:ea typeface="IBM Plex Sans"/>
            </a:endParaRPr>
          </a:p>
        </p:txBody>
      </p:sp>
      <p:sp>
        <p:nvSpPr>
          <p:cNvPr id="100095" name="TextBox 16"/>
          <p:cNvSpPr/>
          <p:nvPr/>
        </p:nvSpPr>
        <p:spPr>
          <a:xfrm xmlns:a="http://schemas.openxmlformats.org/drawingml/2006/main">
            <a:off x="9245600" y="2108200"/>
            <a:ext cx="2006600" cy="558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/>
            <a:r>
              <a:rPr lang="en-US" sz="1500" b="1">
                <a:solidFill>
                  <a:srgbClr val="009D9A"/>
                </a:solidFill>
                <a:latin typeface="IBM Plex Sans"/>
                <a:ea typeface="IBM Plex Sans"/>
              </a:rPr>
              <a:t>PostgreSQL</a:t>
            </a:r>
          </a:p>
        </p:txBody>
      </p:sp>
      <p:sp>
        <p:nvSpPr>
          <p:cNvPr id="100096" name="TextBox 17"/>
          <p:cNvSpPr/>
          <p:nvPr/>
        </p:nvSpPr>
        <p:spPr>
          <a:xfrm xmlns:a="http://schemas.openxmlformats.org/drawingml/2006/main">
            <a:off x="9245600" y="2768600"/>
            <a:ext cx="200660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</a:pPr>
            <a:r>
              <a:rPr lang="en-US" sz="1200" b="0">
                <a:solidFill>
                  <a:srgbClr val="525252"/>
                </a:solidFill>
                <a:latin typeface="IBM Plex Sans"/>
                <a:ea typeface="IBM Plex Sans"/>
              </a:rPr>
              <a:t>Encrypted sections</a:t>
            </a:r>
          </a:p>
          <a:p xmlns:a="http://schemas.openxmlformats.org/drawingml/2006/main">
            <a:pPr algn="l">
              <a:lnSpc>
                <a:spcPct val="115000"/>
              </a:lnSpc>
            </a:pPr>
            <a:r>
              <a:rPr lang="en-US" sz="1200" b="0">
                <a:solidFill>
                  <a:srgbClr val="525252"/>
                </a:solidFill>
                <a:latin typeface="IBM Plex Sans"/>
                <a:ea typeface="IBM Plex Sans"/>
              </a:rPr>
              <a:t>Audit events, system logs</a:t>
            </a:r>
          </a:p>
          <a:p xmlns:a="http://schemas.openxmlformats.org/drawingml/2006/main">
            <a:pPr algn="l">
              <a:lnSpc>
                <a:spcPct val="115000"/>
              </a:lnSpc>
            </a:pPr>
            <a:r>
              <a:rPr lang="en-US" sz="1200" b="0">
                <a:solidFill>
                  <a:srgbClr val="525252"/>
                </a:solidFill>
                <a:latin typeface="IBM Plex Sans"/>
                <a:ea typeface="IBM Plex Sans"/>
              </a:rPr>
              <a:t>Encrypted build keys</a:t>
            </a:r>
          </a:p>
        </p:txBody>
      </p:sp>
      <p:sp>
        <p:nvSpPr>
          <p:cNvPr id="100097" name="TextBox 18"/>
          <p:cNvSpPr/>
          <p:nvPr/>
        </p:nvSpPr>
        <p:spPr>
          <a:xfrm xmlns:a="http://schemas.openxmlformats.org/drawingml/2006/main">
            <a:off x="762000" y="4572000"/>
            <a:ext cx="10668000" cy="101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</a:pPr>
            <a:r>
              <a:rPr lang="en-US" sz="1500" b="0">
                <a:solidFill>
                  <a:srgbClr val="161616"/>
                </a:solidFill>
                <a:latin typeface="IBM Plex Sans"/>
                <a:ea typeface="IBM Plex Sans"/>
              </a:rPr>
              <a:t>Links: desktop → nginx over HTTPS; nginx → backend on app_net; backend → Postgres on the internal db_net. Output: a signed + encrypted YAML contract for HPVS / CCRT. Keys go through the KeyProvider interface, and the DB provider stores them as AES-256-CBC encrypted PEM in Postgres. There is no Vault in the current deployment.</a:t>
            </a:r>
          </a:p>
        </p:txBody>
      </p:sp>
      <p:sp>
        <p:nvSpPr>
          <p:cNvPr id="100098" name="TextBox 19"/>
          <p:cNvSpPr/>
          <p:nvPr/>
        </p:nvSpPr>
        <p:spPr>
          <a:xfrm xmlns:a="http://schemas.openxmlformats.org/drawingml/2006/main">
            <a:off x="762000" y="6324600"/>
            <a:ext cx="5080000" cy="17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/>
            <a:r>
              <a:rPr lang="en-US" sz="1000" b="0">
                <a:solidFill>
                  <a:srgbClr val="525252"/>
                </a:solidFill>
                <a:latin typeface="IBM Plex Sans"/>
                <a:ea typeface="IBM Plex Sans"/>
              </a:rPr>
              <a:t>Contract Manager · Intern Onboarding</a:t>
            </a:r>
          </a:p>
        </p:txBody>
      </p:sp>
      <p:sp>
        <p:nvSpPr>
          <p:cNvPr id="100099" name="TextBox 20"/>
          <p:cNvSpPr/>
          <p:nvPr/>
        </p:nvSpPr>
        <p:spPr>
          <a:xfrm xmlns:a="http://schemas.openxmlformats.org/drawingml/2006/main">
            <a:off x="10922000" y="6324600"/>
            <a:ext cx="508000" cy="17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/>
            <a:r>
              <a:rPr lang="en-US" sz="1000" b="0">
                <a:solidFill>
                  <a:srgbClr val="525252"/>
                </a:solidFill>
                <a:latin typeface="IBM Plex Sans"/>
                <a:ea typeface="IBM Plex Sans"/>
              </a:rPr>
              <a:t>5</a:t>
            </a:r>
          </a:p>
        </p:txBody>
      </p:sp>
    </p:spTree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100100" name="TextBox 1"/>
          <p:cNvSpPr/>
          <p:nvPr/>
        </p:nvSpPr>
        <p:spPr>
          <a:xfrm xmlns:a="http://schemas.openxmlformats.org/drawingml/2006/main">
            <a:off x="762000" y="571500"/>
            <a:ext cx="10668000" cy="20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/>
            <a:r>
              <a:rPr lang="en-US" sz="1100" b="1">
                <a:solidFill>
                  <a:srgbClr val="0F62FE"/>
                </a:solidFill>
                <a:latin typeface="IBM Plex Sans"/>
                <a:ea typeface="IBM Plex Sans"/>
              </a:rPr>
              <a:t>WHERE THINGS LIVE</a:t>
            </a:r>
          </a:p>
        </p:txBody>
      </p:sp>
      <p:sp>
        <p:nvSpPr>
          <p:cNvPr id="100101" name="TextBox 2"/>
          <p:cNvSpPr/>
          <p:nvPr/>
        </p:nvSpPr>
        <p:spPr>
          <a:xfrm xmlns:a="http://schemas.openxmlformats.org/drawingml/2006/main">
            <a:off x="762000" y="800100"/>
            <a:ext cx="10668000" cy="431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/>
            <a:r>
              <a:rPr lang="en-US" sz="2400" b="1">
                <a:solidFill>
                  <a:srgbClr val="161616"/>
                </a:solidFill>
                <a:latin typeface="IBM Plex Sans"/>
                <a:ea typeface="IBM Plex Sans"/>
              </a:rPr>
              <a:t>A tour of the repository</a:t>
            </a:r>
          </a:p>
        </p:txBody>
      </p:sp>
      <p:graphicFrame>
        <p:nvGraphicFramePr>
          <p:cNvPr id="100102" name="Table 1"/>
          <p:cNvGraphicFramePr/>
          <p:nvPr/>
        </p:nvGraphicFramePr>
        <p:xfrm>
          <a:off xmlns:a="http://schemas.openxmlformats.org/drawingml/2006/main" x="762000" y="1371600"/>
          <a:ext xmlns:a="http://schemas.openxmlformats.org/drawingml/2006/main" cx="10668000" cy="431800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3429000"/>
                <a:gridCol w="7239000"/>
              </a:tblGrid>
              <a:tr h="431800">
                <a:tc>
                  <a:txBody>
                    <a:bodyPr/>
                    <a:lstStyle/>
                    <a:p>
                      <a:r>
                        <a:rPr lang="en-US" sz="1300" b="1">
                          <a:solidFill>
                            <a:srgbClr val="FFFFFF"/>
                          </a:solidFill>
                          <a:latin typeface="IBM Plex Sans"/>
                          <a:ea typeface="IBM Plex Sans"/>
                        </a:rPr>
                        <a:t>Path</a:t>
                      </a:r>
                    </a:p>
                  </a:txBody>
                  <a:tcPr anchor="ctr">
                    <a:solidFill>
                      <a:srgbClr val="16161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b="1">
                          <a:solidFill>
                            <a:srgbClr val="FFFFFF"/>
                          </a:solidFill>
                          <a:latin typeface="IBM Plex Sans"/>
                          <a:ea typeface="IBM Plex Sans"/>
                        </a:rPr>
                        <a:t>What it contains</a:t>
                      </a:r>
                    </a:p>
                  </a:txBody>
                  <a:tcPr anchor="ctr">
                    <a:solidFill>
                      <a:srgbClr val="161616"/>
                    </a:solidFill>
                  </a:tcPr>
                </a:tc>
              </a:tr>
              <a:tr h="431800">
                <a:tc>
                  <a:txBody>
                    <a:bodyPr/>
                    <a:lstStyle/>
                    <a:p>
                      <a:r>
                        <a:rPr lang="en-US" sz="1300">
                          <a:solidFill>
                            <a:srgbClr val="161616"/>
                          </a:solidFill>
                          <a:latin typeface="IBM Plex Mono"/>
                          <a:ea typeface="IBM Plex Mono"/>
                        </a:rPr>
                        <a:t>cmd/server/main.go</a:t>
                      </a:r>
                    </a:p>
                  </a:txBody>
                  <a:tcPr anchor="ctr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>
                          <a:solidFill>
                            <a:srgbClr val="161616"/>
                          </a:solidFill>
                          <a:latin typeface="IBM Plex Sans"/>
                          <a:ea typeface="IBM Plex Sans"/>
                        </a:rPr>
                        <a:t>Wires every service and route; the single binary</a:t>
                      </a:r>
                    </a:p>
                  </a:txBody>
                  <a:tcPr anchor="ctr">
                    <a:solidFill>
                      <a:srgbClr val="F4F4F4"/>
                    </a:solidFill>
                  </a:tcPr>
                </a:tc>
              </a:tr>
              <a:tr h="431800">
                <a:tc>
                  <a:txBody>
                    <a:bodyPr/>
                    <a:lstStyle/>
                    <a:p>
                      <a:r>
                        <a:rPr lang="en-US" sz="1300">
                          <a:solidFill>
                            <a:srgbClr val="161616"/>
                          </a:solidFill>
                          <a:latin typeface="IBM Plex Mono"/>
                          <a:ea typeface="IBM Plex Mono"/>
                        </a:rPr>
                        <a:t>internal/config/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>
                          <a:solidFill>
                            <a:srgbClr val="161616"/>
                          </a:solidFill>
                          <a:latin typeface="IBM Plex Sans"/>
                          <a:ea typeface="IBM Plex Sans"/>
                        </a:rPr>
                        <a:t>Configuration from environment variables only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31800">
                <a:tc>
                  <a:txBody>
                    <a:bodyPr/>
                    <a:lstStyle/>
                    <a:p>
                      <a:r>
                        <a:rPr lang="en-US" sz="1300">
                          <a:solidFill>
                            <a:srgbClr val="161616"/>
                          </a:solidFill>
                          <a:latin typeface="IBM Plex Mono"/>
                          <a:ea typeface="IBM Plex Mono"/>
                        </a:rPr>
                        <a:t>internal/model/</a:t>
                      </a:r>
                    </a:p>
                  </a:txBody>
                  <a:tcPr anchor="ctr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>
                          <a:solidFill>
                            <a:srgbClr val="161616"/>
                          </a:solidFill>
                          <a:latin typeface="IBM Plex Sans"/>
                          <a:ea typeface="IBM Plex Sans"/>
                        </a:rPr>
                        <a:t>Domain types, BuildStatus state machine, AppError constructors</a:t>
                      </a:r>
                    </a:p>
                  </a:txBody>
                  <a:tcPr anchor="ctr">
                    <a:solidFill>
                      <a:srgbClr val="F4F4F4"/>
                    </a:solidFill>
                  </a:tcPr>
                </a:tc>
              </a:tr>
              <a:tr h="431800">
                <a:tc>
                  <a:txBody>
                    <a:bodyPr/>
                    <a:lstStyle/>
                    <a:p>
                      <a:r>
                        <a:rPr lang="en-US" sz="1300">
                          <a:solidFill>
                            <a:srgbClr val="161616"/>
                          </a:solidFill>
                          <a:latin typeface="IBM Plex Mono"/>
                          <a:ea typeface="IBM Plex Mono"/>
                        </a:rPr>
                        <a:t>internal/handler/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>
                          <a:solidFill>
                            <a:srgbClr val="161616"/>
                          </a:solidFill>
                          <a:latin typeface="IBM Plex Sans"/>
                          <a:ea typeface="IBM Plex Sans"/>
                        </a:rPr>
                        <a:t>HTTP handlers: parse request → call service → writeJSON / writeError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31800">
                <a:tc>
                  <a:txBody>
                    <a:bodyPr/>
                    <a:lstStyle/>
                    <a:p>
                      <a:r>
                        <a:rPr lang="en-US" sz="1300">
                          <a:solidFill>
                            <a:srgbClr val="161616"/>
                          </a:solidFill>
                          <a:latin typeface="IBM Plex Mono"/>
                          <a:ea typeface="IBM Plex Mono"/>
                        </a:rPr>
                        <a:t>internal/service/</a:t>
                      </a:r>
                    </a:p>
                  </a:txBody>
                  <a:tcPr anchor="ctr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>
                          <a:solidFill>
                            <a:srgbClr val="161616"/>
                          </a:solidFill>
                          <a:latin typeface="IBM Plex Sans"/>
                          <a:ea typeface="IBM Plex Sans"/>
                        </a:rPr>
                        <a:t>Business logic on top of the repository.Querier interface</a:t>
                      </a:r>
                    </a:p>
                  </a:txBody>
                  <a:tcPr anchor="ctr">
                    <a:solidFill>
                      <a:srgbClr val="F4F4F4"/>
                    </a:solidFill>
                  </a:tcPr>
                </a:tc>
              </a:tr>
              <a:tr h="431800">
                <a:tc>
                  <a:txBody>
                    <a:bodyPr/>
                    <a:lstStyle/>
                    <a:p>
                      <a:r>
                        <a:rPr lang="en-US" sz="1300">
                          <a:solidFill>
                            <a:srgbClr val="161616"/>
                          </a:solidFill>
                          <a:latin typeface="IBM Plex Mono"/>
                          <a:ea typeface="IBM Plex Mono"/>
                        </a:rPr>
                        <a:t>internal/repository/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>
                          <a:solidFill>
                            <a:srgbClr val="161616"/>
                          </a:solidFill>
                          <a:latin typeface="IBM Plex Sans"/>
                          <a:ea typeface="IBM Plex Sans"/>
                        </a:rPr>
                        <a:t>SQLC-generated code. Never edit *.sql.go; edit queries/*.sql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31800">
                <a:tc>
                  <a:txBody>
                    <a:bodyPr/>
                    <a:lstStyle/>
                    <a:p>
                      <a:r>
                        <a:rPr lang="en-US" sz="1300">
                          <a:solidFill>
                            <a:srgbClr val="161616"/>
                          </a:solidFill>
                          <a:latin typeface="IBM Plex Mono"/>
                          <a:ea typeface="IBM Plex Mono"/>
                        </a:rPr>
                        <a:t>internal/middleware/</a:t>
                      </a:r>
                    </a:p>
                  </a:txBody>
                  <a:tcPr anchor="ctr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>
                          <a:solidFill>
                            <a:srgbClr val="161616"/>
                          </a:solidFill>
                          <a:latin typeface="IBM Plex Sans"/>
                          <a:ea typeface="IBM Plex Sans"/>
                        </a:rPr>
                        <a:t>Auth, setup guard, signature, RBAC, rate limit, hardening</a:t>
                      </a:r>
                    </a:p>
                  </a:txBody>
                  <a:tcPr anchor="ctr">
                    <a:solidFill>
                      <a:srgbClr val="F4F4F4"/>
                    </a:solidFill>
                  </a:tcPr>
                </a:tc>
              </a:tr>
              <a:tr h="431800">
                <a:tc>
                  <a:txBody>
                    <a:bodyPr/>
                    <a:lstStyle/>
                    <a:p>
                      <a:r>
                        <a:rPr lang="en-US" sz="1300">
                          <a:solidFill>
                            <a:srgbClr val="161616"/>
                          </a:solidFill>
                          <a:latin typeface="IBM Plex Mono"/>
                          <a:ea typeface="IBM Plex Mono"/>
                        </a:rPr>
                        <a:t>internal/contract/, keymgmt/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>
                          <a:solidFill>
                            <a:srgbClr val="161616"/>
                          </a:solidFill>
                          <a:latin typeface="IBM Plex Sans"/>
                          <a:ea typeface="IBM Plex Sans"/>
                        </a:rPr>
                        <a:t>contract-go Engine interface · KeyProvider (db + mock)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31800">
                <a:tc>
                  <a:txBody>
                    <a:bodyPr/>
                    <a:lstStyle/>
                    <a:p>
                      <a:r>
                        <a:rPr lang="en-US" sz="1300">
                          <a:solidFill>
                            <a:srgbClr val="161616"/>
                          </a:solidFill>
                          <a:latin typeface="IBM Plex Mono"/>
                          <a:ea typeface="IBM Plex Mono"/>
                        </a:rPr>
                        <a:t>migrations/</a:t>
                      </a:r>
                    </a:p>
                  </a:txBody>
                  <a:tcPr anchor="ctr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>
                          <a:solidFill>
                            <a:srgbClr val="161616"/>
                          </a:solidFill>
                          <a:latin typeface="IBM Plex Sans"/>
                          <a:ea typeface="IBM Plex Sans"/>
                        </a:rPr>
                        <a:t>Numbered up/down SQL migrations (001 – 020)</a:t>
                      </a:r>
                    </a:p>
                  </a:txBody>
                  <a:tcPr anchor="ctr">
                    <a:solidFill>
                      <a:srgbClr val="F4F4F4"/>
                    </a:solidFill>
                  </a:tcPr>
                </a:tc>
              </a:tr>
            </a:tbl>
          </a:graphicData>
        </a:graphic>
      </p:graphicFrame>
      <p:sp>
        <p:nvSpPr>
          <p:cNvPr id="100103" name="TextBox 3"/>
          <p:cNvSpPr/>
          <p:nvPr/>
        </p:nvSpPr>
        <p:spPr>
          <a:xfrm xmlns:a="http://schemas.openxmlformats.org/drawingml/2006/main">
            <a:off x="762000" y="6324600"/>
            <a:ext cx="5080000" cy="17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/>
            <a:r>
              <a:rPr lang="en-US" sz="1000" b="0">
                <a:solidFill>
                  <a:srgbClr val="525252"/>
                </a:solidFill>
                <a:latin typeface="IBM Plex Sans"/>
                <a:ea typeface="IBM Plex Sans"/>
              </a:rPr>
              <a:t>Contract Manager · Intern Onboarding</a:t>
            </a:r>
          </a:p>
        </p:txBody>
      </p:sp>
      <p:sp>
        <p:nvSpPr>
          <p:cNvPr id="100104" name="TextBox 4"/>
          <p:cNvSpPr/>
          <p:nvPr/>
        </p:nvSpPr>
        <p:spPr>
          <a:xfrm xmlns:a="http://schemas.openxmlformats.org/drawingml/2006/main">
            <a:off x="10922000" y="6324600"/>
            <a:ext cx="508000" cy="17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/>
            <a:r>
              <a:rPr lang="en-US" sz="1000" b="0">
                <a:solidFill>
                  <a:srgbClr val="525252"/>
                </a:solidFill>
                <a:latin typeface="IBM Plex Sans"/>
                <a:ea typeface="IBM Plex Sans"/>
              </a:rPr>
              <a:t>6</a:t>
            </a:r>
          </a:p>
        </p:txBody>
      </p:sp>
    </p:spTree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161616"/>
        </a:solidFill>
      </p:bgPr>
    </p:bg>
    <p:spTree>
      <p:nvGrpSpPr>
        <p:cNvPr id="1" name=""/>
        <p:cNvGrpSpPr/>
        <p:nvPr/>
      </p:nvGrpSpPr>
      <p:grpSpPr/>
      <p:sp>
        <p:nvSpPr>
          <p:cNvPr id="100105" name="TextBox 1"/>
          <p:cNvSpPr/>
          <p:nvPr/>
        </p:nvSpPr>
        <p:spPr>
          <a:xfrm xmlns:a="http://schemas.openxmlformats.org/drawingml/2006/main">
            <a:off x="762000" y="571500"/>
            <a:ext cx="10668000" cy="20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/>
            <a:r>
              <a:rPr lang="en-US" sz="1100" b="1">
                <a:solidFill>
                  <a:srgbClr val="78A9FF"/>
                </a:solidFill>
                <a:latin typeface="IBM Plex Sans"/>
                <a:ea typeface="IBM Plex Sans"/>
              </a:rPr>
              <a:t>FOLLOW THE CODE</a:t>
            </a:r>
          </a:p>
        </p:txBody>
      </p:sp>
      <p:sp>
        <p:nvSpPr>
          <p:cNvPr id="100106" name="TextBox 2"/>
          <p:cNvSpPr/>
          <p:nvPr/>
        </p:nvSpPr>
        <p:spPr>
          <a:xfrm xmlns:a="http://schemas.openxmlformats.org/drawingml/2006/main">
            <a:off x="762000" y="800100"/>
            <a:ext cx="10668000" cy="431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/>
            <a:r>
              <a:rPr lang="en-US" sz="2400" b="1">
                <a:solidFill>
                  <a:srgbClr val="FFFFFF"/>
                </a:solidFill>
                <a:latin typeface="IBM Plex Sans"/>
                <a:ea typeface="IBM Plex Sans"/>
              </a:rPr>
              <a:t>Life of a request through the backend</a:t>
            </a:r>
          </a:p>
        </p:txBody>
      </p:sp>
      <p:sp>
        <p:nvSpPr>
          <p:cNvPr id="100107" name="TextBox 3"/>
          <p:cNvSpPr/>
          <p:nvPr/>
        </p:nvSpPr>
        <p:spPr>
          <a:xfrm xmlns:a="http://schemas.openxmlformats.org/drawingml/2006/main">
            <a:off x="762000" y="15875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8A9FF"/>
          </a:solidFill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/>
            <a:r>
              <a:rPr lang="en-US" sz="1600" b="1">
                <a:solidFill>
                  <a:srgbClr val="161616"/>
                </a:solidFill>
                <a:latin typeface="IBM Plex Sans"/>
                <a:ea typeface="IBM Plex Sans"/>
              </a:rPr>
              <a:t>1</a:t>
            </a:r>
          </a:p>
        </p:txBody>
      </p:sp>
      <p:sp>
        <p:nvSpPr>
          <p:cNvPr id="100108" name="TextBox 4"/>
          <p:cNvSpPr/>
          <p:nvPr/>
        </p:nvSpPr>
        <p:spPr>
          <a:xfrm xmlns:a="http://schemas.openxmlformats.org/drawingml/2006/main">
            <a:off x="762000" y="2222500"/>
            <a:ext cx="199136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/>
            <a:r>
              <a:rPr lang="en-US" sz="1600" b="1">
                <a:solidFill>
                  <a:srgbClr val="FFFFFF"/>
                </a:solidFill>
                <a:latin typeface="IBM Plex Sans"/>
                <a:ea typeface="IBM Plex Sans"/>
              </a:rPr>
              <a:t>Global</a:t>
            </a:r>
          </a:p>
        </p:txBody>
      </p:sp>
      <p:sp>
        <p:nvSpPr>
          <p:cNvPr id="100109" name="TextBox 5"/>
          <p:cNvSpPr/>
          <p:nvPr/>
        </p:nvSpPr>
        <p:spPr>
          <a:xfrm xmlns:a="http://schemas.openxmlformats.org/drawingml/2006/main">
            <a:off x="762000" y="2603500"/>
            <a:ext cx="1915160" cy="2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8A9FF"/>
          </a:solidFill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/>
            <a:endParaRPr lang="en-US" sz="1600" b="0">
              <a:solidFill>
                <a:srgbClr val="161616"/>
              </a:solidFill>
              <a:latin typeface="IBM Plex Sans"/>
              <a:ea typeface="IBM Plex Sans"/>
            </a:endParaRPr>
          </a:p>
        </p:txBody>
      </p:sp>
      <p:sp>
        <p:nvSpPr>
          <p:cNvPr id="100110" name="TextBox 6"/>
          <p:cNvSpPr/>
          <p:nvPr/>
        </p:nvSpPr>
        <p:spPr>
          <a:xfrm xmlns:a="http://schemas.openxmlformats.org/drawingml/2006/main">
            <a:off x="762000" y="2755900"/>
            <a:ext cx="194056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</a:pPr>
            <a:r>
              <a:rPr lang="en-US" sz="1200" b="0">
                <a:solidFill>
                  <a:srgbClr val="C6C6C6"/>
                </a:solidFill>
                <a:latin typeface="IBM Plex Sans"/>
                <a:ea typeface="IBM Plex Sans"/>
              </a:rPr>
              <a:t>Recoverer · RequestID</a:t>
            </a:r>
          </a:p>
          <a:p xmlns:a="http://schemas.openxmlformats.org/drawingml/2006/main">
            <a:pPr algn="l">
              <a:lnSpc>
                <a:spcPct val="120000"/>
              </a:lnSpc>
            </a:pPr>
            <a:r>
              <a:rPr lang="en-US" sz="1200" b="0">
                <a:solidFill>
                  <a:srgbClr val="C6C6C6"/>
                </a:solidFill>
                <a:latin typeface="IBM Plex Sans"/>
                <a:ea typeface="IBM Plex Sans"/>
              </a:rPr>
              <a:t>SecurityHeaders</a:t>
            </a:r>
          </a:p>
          <a:p xmlns:a="http://schemas.openxmlformats.org/drawingml/2006/main">
            <a:pPr algn="l">
              <a:lnSpc>
                <a:spcPct val="120000"/>
              </a:lnSpc>
            </a:pPr>
            <a:r>
              <a:rPr lang="en-US" sz="1200" b="0">
                <a:solidFill>
                  <a:srgbClr val="C6C6C6"/>
                </a:solidFill>
                <a:latin typeface="IBM Plex Sans"/>
                <a:ea typeface="IBM Plex Sans"/>
              </a:rPr>
              <a:t>Logging · CORS</a:t>
            </a:r>
          </a:p>
          <a:p xmlns:a="http://schemas.openxmlformats.org/drawingml/2006/main">
            <a:pPr algn="l">
              <a:lnSpc>
                <a:spcPct val="120000"/>
              </a:lnSpc>
            </a:pPr>
            <a:r>
              <a:rPr lang="en-US" sz="1200" b="0">
                <a:solidFill>
                  <a:srgbClr val="C6C6C6"/>
                </a:solidFill>
                <a:latin typeface="IBM Plex Sans"/>
                <a:ea typeface="IBM Plex Sans"/>
              </a:rPr>
              <a:t>MaxBody · Timeout</a:t>
            </a:r>
          </a:p>
        </p:txBody>
      </p:sp>
      <p:sp>
        <p:nvSpPr>
          <p:cNvPr id="100111" name="TextBox 7"/>
          <p:cNvSpPr/>
          <p:nvPr/>
        </p:nvSpPr>
        <p:spPr>
          <a:xfrm xmlns:a="http://schemas.openxmlformats.org/drawingml/2006/main">
            <a:off x="2931160" y="15875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3B1FF"/>
          </a:solidFill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/>
            <a:r>
              <a:rPr lang="en-US" sz="1600" b="1">
                <a:solidFill>
                  <a:srgbClr val="161616"/>
                </a:solidFill>
                <a:latin typeface="IBM Plex Sans"/>
                <a:ea typeface="IBM Plex Sans"/>
              </a:rPr>
              <a:t>2</a:t>
            </a:r>
          </a:p>
        </p:txBody>
      </p:sp>
      <p:sp>
        <p:nvSpPr>
          <p:cNvPr id="100112" name="TextBox 8"/>
          <p:cNvSpPr/>
          <p:nvPr/>
        </p:nvSpPr>
        <p:spPr>
          <a:xfrm xmlns:a="http://schemas.openxmlformats.org/drawingml/2006/main">
            <a:off x="2931160" y="2222500"/>
            <a:ext cx="199136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/>
            <a:r>
              <a:rPr lang="en-US" sz="1600" b="1">
                <a:solidFill>
                  <a:srgbClr val="FFFFFF"/>
                </a:solidFill>
                <a:latin typeface="IBM Plex Sans"/>
                <a:ea typeface="IBM Plex Sans"/>
              </a:rPr>
              <a:t>Rate limit</a:t>
            </a:r>
          </a:p>
        </p:txBody>
      </p:sp>
      <p:sp>
        <p:nvSpPr>
          <p:cNvPr id="100113" name="TextBox 9"/>
          <p:cNvSpPr/>
          <p:nvPr/>
        </p:nvSpPr>
        <p:spPr>
          <a:xfrm xmlns:a="http://schemas.openxmlformats.org/drawingml/2006/main">
            <a:off x="2931160" y="2603500"/>
            <a:ext cx="1915160" cy="2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B1FF"/>
          </a:solidFill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/>
            <a:endParaRPr lang="en-US" sz="1600" b="0">
              <a:solidFill>
                <a:srgbClr val="161616"/>
              </a:solidFill>
              <a:latin typeface="IBM Plex Sans"/>
              <a:ea typeface="IBM Plex Sans"/>
            </a:endParaRPr>
          </a:p>
        </p:txBody>
      </p:sp>
      <p:sp>
        <p:nvSpPr>
          <p:cNvPr id="100114" name="TextBox 10"/>
          <p:cNvSpPr/>
          <p:nvPr/>
        </p:nvSpPr>
        <p:spPr>
          <a:xfrm xmlns:a="http://schemas.openxmlformats.org/drawingml/2006/main">
            <a:off x="2931160" y="2755900"/>
            <a:ext cx="194056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</a:pPr>
            <a:r>
              <a:rPr lang="en-US" sz="1200" b="0">
                <a:solidFill>
                  <a:srgbClr val="C6C6C6"/>
                </a:solidFill>
                <a:latin typeface="IBM Plex Sans"/>
                <a:ea typeface="IBM Plex Sans"/>
              </a:rPr>
              <a:t>Global limiter</a:t>
            </a:r>
          </a:p>
          <a:p xmlns:a="http://schemas.openxmlformats.org/drawingml/2006/main">
            <a:pPr algn="l">
              <a:lnSpc>
                <a:spcPct val="120000"/>
              </a:lnSpc>
            </a:pPr>
            <a:r>
              <a:rPr lang="en-US" sz="1200" b="0">
                <a:solidFill>
                  <a:srgbClr val="C6C6C6"/>
                </a:solidFill>
                <a:latin typeface="IBM Plex Sans"/>
                <a:ea typeface="IBM Plex Sans"/>
              </a:rPr>
              <a:t>(/health is exempt)</a:t>
            </a:r>
          </a:p>
        </p:txBody>
      </p:sp>
      <p:sp>
        <p:nvSpPr>
          <p:cNvPr id="100115" name="TextBox 11"/>
          <p:cNvSpPr/>
          <p:nvPr/>
        </p:nvSpPr>
        <p:spPr>
          <a:xfrm xmlns:a="http://schemas.openxmlformats.org/drawingml/2006/main">
            <a:off x="5100320" y="15875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56EFF"/>
          </a:solidFill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/>
            <a:r>
              <a:rPr lang="en-US" sz="1600" b="1">
                <a:solidFill>
                  <a:srgbClr val="161616"/>
                </a:solidFill>
                <a:latin typeface="IBM Plex Sans"/>
                <a:ea typeface="IBM Plex Sans"/>
              </a:rPr>
              <a:t>3</a:t>
            </a:r>
          </a:p>
        </p:txBody>
      </p:sp>
      <p:sp>
        <p:nvSpPr>
          <p:cNvPr id="100116" name="TextBox 12"/>
          <p:cNvSpPr/>
          <p:nvPr/>
        </p:nvSpPr>
        <p:spPr>
          <a:xfrm xmlns:a="http://schemas.openxmlformats.org/drawingml/2006/main">
            <a:off x="5100320" y="2222500"/>
            <a:ext cx="199136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/>
            <a:r>
              <a:rPr lang="en-US" sz="1600" b="1">
                <a:solidFill>
                  <a:srgbClr val="FFFFFF"/>
                </a:solidFill>
                <a:latin typeface="IBM Plex Sans"/>
                <a:ea typeface="IBM Plex Sans"/>
              </a:rPr>
              <a:t>Authenticated</a:t>
            </a:r>
          </a:p>
        </p:txBody>
      </p:sp>
      <p:sp>
        <p:nvSpPr>
          <p:cNvPr id="100117" name="TextBox 13"/>
          <p:cNvSpPr/>
          <p:nvPr/>
        </p:nvSpPr>
        <p:spPr>
          <a:xfrm xmlns:a="http://schemas.openxmlformats.org/drawingml/2006/main">
            <a:off x="5100320" y="2603500"/>
            <a:ext cx="1915160" cy="2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56EFF"/>
          </a:solidFill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/>
            <a:endParaRPr lang="en-US" sz="1600" b="0">
              <a:solidFill>
                <a:srgbClr val="161616"/>
              </a:solidFill>
              <a:latin typeface="IBM Plex Sans"/>
              <a:ea typeface="IBM Plex Sans"/>
            </a:endParaRPr>
          </a:p>
        </p:txBody>
      </p:sp>
      <p:sp>
        <p:nvSpPr>
          <p:cNvPr id="100118" name="TextBox 14"/>
          <p:cNvSpPr/>
          <p:nvPr/>
        </p:nvSpPr>
        <p:spPr>
          <a:xfrm xmlns:a="http://schemas.openxmlformats.org/drawingml/2006/main">
            <a:off x="5100320" y="2755900"/>
            <a:ext cx="194056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</a:pPr>
            <a:r>
              <a:rPr lang="en-US" sz="1200" b="0">
                <a:solidFill>
                  <a:srgbClr val="C6C6C6"/>
                </a:solidFill>
                <a:latin typeface="IBM Plex Sans"/>
                <a:ea typeface="IBM Plex Sans"/>
              </a:rPr>
              <a:t>Auth (bearer token)</a:t>
            </a:r>
          </a:p>
          <a:p xmlns:a="http://schemas.openxmlformats.org/drawingml/2006/main">
            <a:pPr algn="l">
              <a:lnSpc>
                <a:spcPct val="120000"/>
              </a:lnSpc>
            </a:pPr>
            <a:r>
              <a:rPr lang="en-US" sz="1200" b="0">
                <a:solidFill>
                  <a:srgbClr val="C6C6C6"/>
                </a:solidFill>
                <a:latin typeface="IBM Plex Sans"/>
                <a:ea typeface="IBM Plex Sans"/>
              </a:rPr>
              <a:t>SetupGuard</a:t>
            </a:r>
          </a:p>
          <a:p xmlns:a="http://schemas.openxmlformats.org/drawingml/2006/main">
            <a:pPr algn="l">
              <a:lnSpc>
                <a:spcPct val="120000"/>
              </a:lnSpc>
            </a:pPr>
            <a:r>
              <a:rPr lang="en-US" sz="1200" b="0">
                <a:solidFill>
                  <a:srgbClr val="C6C6C6"/>
                </a:solidFill>
                <a:latin typeface="IBM Plex Sans"/>
                <a:ea typeface="IBM Plex Sans"/>
              </a:rPr>
              <a:t>RequireRequest-</a:t>
            </a:r>
          </a:p>
          <a:p xmlns:a="http://schemas.openxmlformats.org/drawingml/2006/main">
            <a:pPr algn="l">
              <a:lnSpc>
                <a:spcPct val="120000"/>
              </a:lnSpc>
            </a:pPr>
            <a:r>
              <a:rPr lang="en-US" sz="1200" b="0">
                <a:solidFill>
                  <a:srgbClr val="C6C6C6"/>
                </a:solidFill>
                <a:latin typeface="IBM Plex Sans"/>
                <a:ea typeface="IBM Plex Sans"/>
              </a:rPr>
              <a:t>Signature</a:t>
            </a:r>
          </a:p>
        </p:txBody>
      </p:sp>
      <p:sp>
        <p:nvSpPr>
          <p:cNvPr id="100119" name="TextBox 15"/>
          <p:cNvSpPr/>
          <p:nvPr/>
        </p:nvSpPr>
        <p:spPr>
          <a:xfrm xmlns:a="http://schemas.openxmlformats.org/drawingml/2006/main">
            <a:off x="7269480" y="15875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BDBA"/>
          </a:solidFill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/>
            <a:r>
              <a:rPr lang="en-US" sz="1600" b="1">
                <a:solidFill>
                  <a:srgbClr val="161616"/>
                </a:solidFill>
                <a:latin typeface="IBM Plex Sans"/>
                <a:ea typeface="IBM Plex Sans"/>
              </a:rPr>
              <a:t>4</a:t>
            </a:r>
          </a:p>
        </p:txBody>
      </p:sp>
      <p:sp>
        <p:nvSpPr>
          <p:cNvPr id="100120" name="TextBox 16"/>
          <p:cNvSpPr/>
          <p:nvPr/>
        </p:nvSpPr>
        <p:spPr>
          <a:xfrm xmlns:a="http://schemas.openxmlformats.org/drawingml/2006/main">
            <a:off x="7269480" y="2222500"/>
            <a:ext cx="199136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/>
            <a:r>
              <a:rPr lang="en-US" sz="1600" b="1">
                <a:solidFill>
                  <a:srgbClr val="FFFFFF"/>
                </a:solidFill>
                <a:latin typeface="IBM Plex Sans"/>
                <a:ea typeface="IBM Plex Sans"/>
              </a:rPr>
              <a:t>Per route</a:t>
            </a:r>
          </a:p>
        </p:txBody>
      </p:sp>
      <p:sp>
        <p:nvSpPr>
          <p:cNvPr id="100121" name="TextBox 17"/>
          <p:cNvSpPr/>
          <p:nvPr/>
        </p:nvSpPr>
        <p:spPr>
          <a:xfrm xmlns:a="http://schemas.openxmlformats.org/drawingml/2006/main">
            <a:off x="7269480" y="2603500"/>
            <a:ext cx="1915160" cy="2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BDBA"/>
          </a:solidFill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/>
            <a:endParaRPr lang="en-US" sz="1600" b="0">
              <a:solidFill>
                <a:srgbClr val="161616"/>
              </a:solidFill>
              <a:latin typeface="IBM Plex Sans"/>
              <a:ea typeface="IBM Plex Sans"/>
            </a:endParaRPr>
          </a:p>
        </p:txBody>
      </p:sp>
      <p:sp>
        <p:nvSpPr>
          <p:cNvPr id="100122" name="TextBox 18"/>
          <p:cNvSpPr/>
          <p:nvPr/>
        </p:nvSpPr>
        <p:spPr>
          <a:xfrm xmlns:a="http://schemas.openxmlformats.org/drawingml/2006/main">
            <a:off x="7269480" y="2755900"/>
            <a:ext cx="194056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</a:pPr>
            <a:r>
              <a:rPr lang="en-US" sz="1200" b="0">
                <a:solidFill>
                  <a:srgbClr val="C6C6C6"/>
                </a:solidFill>
                <a:latin typeface="IBM Plex Sans"/>
                <a:ea typeface="IBM Plex Sans"/>
              </a:rPr>
              <a:t>RequireRole(...)</a:t>
            </a:r>
          </a:p>
          <a:p xmlns:a="http://schemas.openxmlformats.org/drawingml/2006/main">
            <a:pPr algn="l">
              <a:lnSpc>
                <a:spcPct val="120000"/>
              </a:lnSpc>
            </a:pPr>
            <a:r>
              <a:rPr lang="en-US" sz="1200" b="0">
                <a:solidFill>
                  <a:srgbClr val="C6C6C6"/>
                </a:solidFill>
                <a:latin typeface="IBM Plex Sans"/>
                <a:ea typeface="IBM Plex Sans"/>
              </a:rPr>
              <a:t>RequireBuildAccess</a:t>
            </a:r>
          </a:p>
        </p:txBody>
      </p:sp>
      <p:sp>
        <p:nvSpPr>
          <p:cNvPr id="100123" name="TextBox 19"/>
          <p:cNvSpPr/>
          <p:nvPr/>
        </p:nvSpPr>
        <p:spPr>
          <a:xfrm xmlns:a="http://schemas.openxmlformats.org/drawingml/2006/main">
            <a:off x="9438640" y="15875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2BE65"/>
          </a:solidFill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/>
            <a:r>
              <a:rPr lang="en-US" sz="1600" b="1">
                <a:solidFill>
                  <a:srgbClr val="161616"/>
                </a:solidFill>
                <a:latin typeface="IBM Plex Sans"/>
                <a:ea typeface="IBM Plex Sans"/>
              </a:rPr>
              <a:t>5</a:t>
            </a:r>
          </a:p>
        </p:txBody>
      </p:sp>
      <p:sp>
        <p:nvSpPr>
          <p:cNvPr id="100124" name="TextBox 20"/>
          <p:cNvSpPr/>
          <p:nvPr/>
        </p:nvSpPr>
        <p:spPr>
          <a:xfrm xmlns:a="http://schemas.openxmlformats.org/drawingml/2006/main">
            <a:off x="9438640" y="2222500"/>
            <a:ext cx="199136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/>
            <a:r>
              <a:rPr lang="en-US" sz="1600" b="1">
                <a:solidFill>
                  <a:srgbClr val="FFFFFF"/>
                </a:solidFill>
                <a:latin typeface="IBM Plex Sans"/>
                <a:ea typeface="IBM Plex Sans"/>
              </a:rPr>
              <a:t>Handler → Service</a:t>
            </a:r>
          </a:p>
        </p:txBody>
      </p:sp>
      <p:sp>
        <p:nvSpPr>
          <p:cNvPr id="100125" name="TextBox 21"/>
          <p:cNvSpPr/>
          <p:nvPr/>
        </p:nvSpPr>
        <p:spPr>
          <a:xfrm xmlns:a="http://schemas.openxmlformats.org/drawingml/2006/main">
            <a:off x="9438640" y="2603500"/>
            <a:ext cx="1915160" cy="2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BE65"/>
          </a:solidFill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/>
            <a:endParaRPr lang="en-US" sz="1600" b="0">
              <a:solidFill>
                <a:srgbClr val="161616"/>
              </a:solidFill>
              <a:latin typeface="IBM Plex Sans"/>
              <a:ea typeface="IBM Plex Sans"/>
            </a:endParaRPr>
          </a:p>
        </p:txBody>
      </p:sp>
      <p:sp>
        <p:nvSpPr>
          <p:cNvPr id="100126" name="TextBox 22"/>
          <p:cNvSpPr/>
          <p:nvPr/>
        </p:nvSpPr>
        <p:spPr>
          <a:xfrm xmlns:a="http://schemas.openxmlformats.org/drawingml/2006/main">
            <a:off x="9438640" y="2755900"/>
            <a:ext cx="194056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</a:pPr>
            <a:r>
              <a:rPr lang="en-US" sz="1200" b="0">
                <a:solidFill>
                  <a:srgbClr val="C6C6C6"/>
                </a:solidFill>
                <a:latin typeface="IBM Plex Sans"/>
                <a:ea typeface="IBM Plex Sans"/>
              </a:rPr>
              <a:t>readJSON → service</a:t>
            </a:r>
          </a:p>
          <a:p xmlns:a="http://schemas.openxmlformats.org/drawingml/2006/main">
            <a:pPr algn="l">
              <a:lnSpc>
                <a:spcPct val="120000"/>
              </a:lnSpc>
            </a:pPr>
            <a:r>
              <a:rPr lang="en-US" sz="1200" b="0">
                <a:solidFill>
                  <a:srgbClr val="C6C6C6"/>
                </a:solidFill>
                <a:latin typeface="IBM Plex Sans"/>
                <a:ea typeface="IBM Plex Sans"/>
              </a:rPr>
              <a:t>→ repository → DB</a:t>
            </a:r>
          </a:p>
          <a:p xmlns:a="http://schemas.openxmlformats.org/drawingml/2006/main">
            <a:pPr algn="l">
              <a:lnSpc>
                <a:spcPct val="120000"/>
              </a:lnSpc>
            </a:pPr>
            <a:r>
              <a:rPr lang="en-US" sz="1200" b="0">
                <a:solidFill>
                  <a:srgbClr val="C6C6C6"/>
                </a:solidFill>
                <a:latin typeface="IBM Plex Sans"/>
                <a:ea typeface="IBM Plex Sans"/>
              </a:rPr>
              <a:t>writeJSON / writeError</a:t>
            </a:r>
          </a:p>
        </p:txBody>
      </p:sp>
      <p:sp>
        <p:nvSpPr>
          <p:cNvPr id="100127" name="TextBox 23"/>
          <p:cNvSpPr/>
          <p:nvPr/>
        </p:nvSpPr>
        <p:spPr>
          <a:xfrm xmlns:a="http://schemas.openxmlformats.org/drawingml/2006/main">
            <a:off x="762000" y="4889500"/>
            <a:ext cx="10668000" cy="279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/>
            <a:r>
              <a:rPr lang="en-US" sz="1300" b="0">
                <a:solidFill>
                  <a:srgbClr val="A8A8A8"/>
                </a:solidFill>
                <a:latin typeface="IBM Plex Mono"/>
                <a:ea typeface="IBM Plex Mono"/>
              </a:rPr>
              <a:t>Where to look: cmd/server/main.go (routes) · internal/middleware/ · internal/handler/response.go</a:t>
            </a:r>
          </a:p>
        </p:txBody>
      </p:sp>
      <p:sp>
        <p:nvSpPr>
          <p:cNvPr id="100128" name="TextBox 24"/>
          <p:cNvSpPr/>
          <p:nvPr/>
        </p:nvSpPr>
        <p:spPr>
          <a:xfrm xmlns:a="http://schemas.openxmlformats.org/drawingml/2006/main">
            <a:off x="762000" y="6324600"/>
            <a:ext cx="5080000" cy="17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/>
            <a:r>
              <a:rPr lang="en-US" sz="1000" b="0">
                <a:solidFill>
                  <a:srgbClr val="8D8D8D"/>
                </a:solidFill>
                <a:latin typeface="IBM Plex Sans"/>
                <a:ea typeface="IBM Plex Sans"/>
              </a:rPr>
              <a:t>Contract Manager · Intern Onboarding</a:t>
            </a:r>
          </a:p>
        </p:txBody>
      </p:sp>
      <p:sp>
        <p:nvSpPr>
          <p:cNvPr id="100129" name="TextBox 25"/>
          <p:cNvSpPr/>
          <p:nvPr/>
        </p:nvSpPr>
        <p:spPr>
          <a:xfrm xmlns:a="http://schemas.openxmlformats.org/drawingml/2006/main">
            <a:off x="10922000" y="6324600"/>
            <a:ext cx="508000" cy="17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/>
            <a:r>
              <a:rPr lang="en-US" sz="1000" b="0">
                <a:solidFill>
                  <a:srgbClr val="8D8D8D"/>
                </a:solidFill>
                <a:latin typeface="IBM Plex Sans"/>
                <a:ea typeface="IBM Plex Sans"/>
              </a:rPr>
              <a:t>7</a:t>
            </a:r>
          </a:p>
        </p:txBody>
      </p:sp>
    </p:spTree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100130" name="TextBox 1"/>
          <p:cNvSpPr/>
          <p:nvPr/>
        </p:nvSpPr>
        <p:spPr>
          <a:xfrm xmlns:a="http://schemas.openxmlformats.org/drawingml/2006/main">
            <a:off x="762000" y="571500"/>
            <a:ext cx="10668000" cy="20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/>
            <a:r>
              <a:rPr lang="en-US" sz="1100" b="1">
                <a:solidFill>
                  <a:srgbClr val="0F62FE"/>
                </a:solidFill>
                <a:latin typeface="IBM Plex Sans"/>
                <a:ea typeface="IBM Plex Sans"/>
              </a:rPr>
              <a:t>CORE DOMAIN</a:t>
            </a:r>
          </a:p>
        </p:txBody>
      </p:sp>
      <p:sp>
        <p:nvSpPr>
          <p:cNvPr id="100131" name="TextBox 2"/>
          <p:cNvSpPr/>
          <p:nvPr/>
        </p:nvSpPr>
        <p:spPr>
          <a:xfrm xmlns:a="http://schemas.openxmlformats.org/drawingml/2006/main">
            <a:off x="762000" y="800100"/>
            <a:ext cx="10668000" cy="431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/>
            <a:r>
              <a:rPr lang="en-US" sz="2400" b="1">
                <a:solidFill>
                  <a:srgbClr val="161616"/>
                </a:solidFill>
                <a:latin typeface="IBM Plex Sans"/>
                <a:ea typeface="IBM Plex Sans"/>
              </a:rPr>
              <a:t>The build lifecycle is a strict state machine</a:t>
            </a:r>
          </a:p>
        </p:txBody>
      </p:sp>
      <p:sp>
        <p:nvSpPr>
          <p:cNvPr id="100132" name="TextBox 3"/>
          <p:cNvSpPr/>
          <p:nvPr/>
        </p:nvSpPr>
        <p:spPr>
          <a:xfrm xmlns:a="http://schemas.openxmlformats.org/drawingml/2006/main">
            <a:off x="762000" y="1524000"/>
            <a:ext cx="1600200" cy="558800"/>
          </a:xfrm>
          <a:prstGeom xmlns:a="http://schemas.openxmlformats.org/drawingml/2006/main" prst="homePlate">
            <a:avLst/>
          </a:prstGeom>
          <a:solidFill xmlns:a="http://schemas.openxmlformats.org/drawingml/2006/main">
            <a:srgbClr val="0F62FE"/>
          </a:solidFill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/>
            <a:r>
              <a:rPr lang="en-US" sz="1600" b="1">
                <a:solidFill>
                  <a:srgbClr val="FFFFFF"/>
                </a:solidFill>
                <a:latin typeface="IBM Plex Sans"/>
                <a:ea typeface="IBM Plex Sans"/>
              </a:rPr>
              <a:t>1</a:t>
            </a:r>
          </a:p>
        </p:txBody>
      </p:sp>
      <p:sp>
        <p:nvSpPr>
          <p:cNvPr id="100133" name="TextBox 4"/>
          <p:cNvSpPr/>
          <p:nvPr/>
        </p:nvSpPr>
        <p:spPr>
          <a:xfrm xmlns:a="http://schemas.openxmlformats.org/drawingml/2006/main">
            <a:off x="812800" y="2184400"/>
            <a:ext cx="1473200" cy="431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/>
            <a:r>
              <a:rPr lang="en-US" sz="1100" b="1">
                <a:solidFill>
                  <a:srgbClr val="161616"/>
                </a:solidFill>
                <a:latin typeface="IBM Plex Sans"/>
                <a:ea typeface="IBM Plex Sans"/>
              </a:rPr>
              <a:t>CREATED</a:t>
            </a:r>
          </a:p>
        </p:txBody>
      </p:sp>
      <p:sp>
        <p:nvSpPr>
          <p:cNvPr id="100134" name="TextBox 5"/>
          <p:cNvSpPr/>
          <p:nvPr/>
        </p:nvSpPr>
        <p:spPr>
          <a:xfrm xmlns:a="http://schemas.openxmlformats.org/drawingml/2006/main">
            <a:off x="812800" y="2641600"/>
            <a:ext cx="1473200" cy="25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/>
            <a:r>
              <a:rPr lang="en-US" sz="1100" b="0">
                <a:solidFill>
                  <a:srgbClr val="525252"/>
                </a:solidFill>
                <a:latin typeface="IBM Plex Sans"/>
                <a:ea typeface="IBM Plex Sans"/>
              </a:rPr>
              <a:t>Admin</a:t>
            </a:r>
          </a:p>
        </p:txBody>
      </p:sp>
      <p:sp>
        <p:nvSpPr>
          <p:cNvPr id="100135" name="TextBox 6"/>
          <p:cNvSpPr/>
          <p:nvPr/>
        </p:nvSpPr>
        <p:spPr>
          <a:xfrm xmlns:a="http://schemas.openxmlformats.org/drawingml/2006/main">
            <a:off x="2286000" y="1524000"/>
            <a:ext cx="1600200" cy="5588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8A3FFC"/>
          </a:solidFill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/>
            <a:r>
              <a:rPr lang="en-US" sz="1600" b="1">
                <a:solidFill>
                  <a:srgbClr val="FFFFFF"/>
                </a:solidFill>
                <a:latin typeface="IBM Plex Sans"/>
                <a:ea typeface="IBM Plex Sans"/>
              </a:rPr>
              <a:t>2</a:t>
            </a:r>
          </a:p>
        </p:txBody>
      </p:sp>
      <p:sp>
        <p:nvSpPr>
          <p:cNvPr id="100136" name="TextBox 7"/>
          <p:cNvSpPr/>
          <p:nvPr/>
        </p:nvSpPr>
        <p:spPr>
          <a:xfrm xmlns:a="http://schemas.openxmlformats.org/drawingml/2006/main">
            <a:off x="2336800" y="2184400"/>
            <a:ext cx="1473200" cy="431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/>
            <a:r>
              <a:rPr lang="en-US" sz="1100" b="1">
                <a:solidFill>
                  <a:srgbClr val="161616"/>
                </a:solidFill>
                <a:latin typeface="IBM Plex Sans"/>
                <a:ea typeface="IBM Plex Sans"/>
              </a:rPr>
              <a:t>SIGNING KEY</a:t>
            </a:r>
            <a:br/>
            <a:r>
              <a:rPr lang="en-US" sz="1100" b="1">
                <a:solidFill>
                  <a:srgbClr val="161616"/>
                </a:solidFill>
                <a:latin typeface="IBM Plex Sans"/>
                <a:ea typeface="IBM Plex Sans"/>
              </a:rPr>
              <a:t>REGISTERED</a:t>
            </a:r>
          </a:p>
        </p:txBody>
      </p:sp>
      <p:sp>
        <p:nvSpPr>
          <p:cNvPr id="100137" name="TextBox 8"/>
          <p:cNvSpPr/>
          <p:nvPr/>
        </p:nvSpPr>
        <p:spPr>
          <a:xfrm xmlns:a="http://schemas.openxmlformats.org/drawingml/2006/main">
            <a:off x="2336800" y="2641600"/>
            <a:ext cx="1473200" cy="25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/>
            <a:r>
              <a:rPr lang="en-US" sz="1100" b="0">
                <a:solidFill>
                  <a:srgbClr val="525252"/>
                </a:solidFill>
                <a:latin typeface="IBM Plex Sans"/>
                <a:ea typeface="IBM Plex Sans"/>
              </a:rPr>
              <a:t>Auditor</a:t>
            </a:r>
          </a:p>
        </p:txBody>
      </p:sp>
      <p:sp>
        <p:nvSpPr>
          <p:cNvPr id="100138" name="TextBox 9"/>
          <p:cNvSpPr/>
          <p:nvPr/>
        </p:nvSpPr>
        <p:spPr>
          <a:xfrm xmlns:a="http://schemas.openxmlformats.org/drawingml/2006/main">
            <a:off x="3810000" y="1524000"/>
            <a:ext cx="1600200" cy="5588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1192E8"/>
          </a:solidFill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/>
            <a:r>
              <a:rPr lang="en-US" sz="1600" b="1">
                <a:solidFill>
                  <a:srgbClr val="FFFFFF"/>
                </a:solidFill>
                <a:latin typeface="IBM Plex Sans"/>
                <a:ea typeface="IBM Plex Sans"/>
              </a:rPr>
              <a:t>3</a:t>
            </a:r>
          </a:p>
        </p:txBody>
      </p:sp>
      <p:sp>
        <p:nvSpPr>
          <p:cNvPr id="100139" name="TextBox 10"/>
          <p:cNvSpPr/>
          <p:nvPr/>
        </p:nvSpPr>
        <p:spPr>
          <a:xfrm xmlns:a="http://schemas.openxmlformats.org/drawingml/2006/main">
            <a:off x="3860800" y="2184400"/>
            <a:ext cx="1473200" cy="431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/>
            <a:r>
              <a:rPr lang="en-US" sz="1100" b="1">
                <a:solidFill>
                  <a:srgbClr val="161616"/>
                </a:solidFill>
                <a:latin typeface="IBM Plex Sans"/>
                <a:ea typeface="IBM Plex Sans"/>
              </a:rPr>
              <a:t>WORKLOAD</a:t>
            </a:r>
            <a:br/>
            <a:r>
              <a:rPr lang="en-US" sz="1100" b="1">
                <a:solidFill>
                  <a:srgbClr val="161616"/>
                </a:solidFill>
                <a:latin typeface="IBM Plex Sans"/>
                <a:ea typeface="IBM Plex Sans"/>
              </a:rPr>
              <a:t>SUBMITTED</a:t>
            </a:r>
          </a:p>
        </p:txBody>
      </p:sp>
      <p:sp>
        <p:nvSpPr>
          <p:cNvPr id="100140" name="TextBox 11"/>
          <p:cNvSpPr/>
          <p:nvPr/>
        </p:nvSpPr>
        <p:spPr>
          <a:xfrm xmlns:a="http://schemas.openxmlformats.org/drawingml/2006/main">
            <a:off x="3860800" y="2641600"/>
            <a:ext cx="1473200" cy="25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/>
            <a:r>
              <a:rPr lang="en-US" sz="1100" b="0">
                <a:solidFill>
                  <a:srgbClr val="525252"/>
                </a:solidFill>
                <a:latin typeface="IBM Plex Sans"/>
                <a:ea typeface="IBM Plex Sans"/>
              </a:rPr>
              <a:t>Solution Provider</a:t>
            </a:r>
          </a:p>
        </p:txBody>
      </p:sp>
      <p:sp>
        <p:nvSpPr>
          <p:cNvPr id="100141" name="TextBox 12"/>
          <p:cNvSpPr/>
          <p:nvPr/>
        </p:nvSpPr>
        <p:spPr>
          <a:xfrm xmlns:a="http://schemas.openxmlformats.org/drawingml/2006/main">
            <a:off x="5334000" y="1524000"/>
            <a:ext cx="1600200" cy="5588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009D9A"/>
          </a:solidFill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/>
            <a:r>
              <a:rPr lang="en-US" sz="1600" b="1">
                <a:solidFill>
                  <a:srgbClr val="FFFFFF"/>
                </a:solidFill>
                <a:latin typeface="IBM Plex Sans"/>
                <a:ea typeface="IBM Plex Sans"/>
              </a:rPr>
              <a:t>4</a:t>
            </a:r>
          </a:p>
        </p:txBody>
      </p:sp>
      <p:sp>
        <p:nvSpPr>
          <p:cNvPr id="100142" name="TextBox 13"/>
          <p:cNvSpPr/>
          <p:nvPr/>
        </p:nvSpPr>
        <p:spPr>
          <a:xfrm xmlns:a="http://schemas.openxmlformats.org/drawingml/2006/main">
            <a:off x="5384800" y="2184400"/>
            <a:ext cx="1473200" cy="431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/>
            <a:r>
              <a:rPr lang="en-US" sz="1100" b="1">
                <a:solidFill>
                  <a:srgbClr val="161616"/>
                </a:solidFill>
                <a:latin typeface="IBM Plex Sans"/>
                <a:ea typeface="IBM Plex Sans"/>
              </a:rPr>
              <a:t>ENVIRONMENT</a:t>
            </a:r>
            <a:br/>
            <a:r>
              <a:rPr lang="en-US" sz="1100" b="1">
                <a:solidFill>
                  <a:srgbClr val="161616"/>
                </a:solidFill>
                <a:latin typeface="IBM Plex Sans"/>
                <a:ea typeface="IBM Plex Sans"/>
              </a:rPr>
              <a:t>STAGED</a:t>
            </a:r>
          </a:p>
        </p:txBody>
      </p:sp>
      <p:sp>
        <p:nvSpPr>
          <p:cNvPr id="100143" name="TextBox 14"/>
          <p:cNvSpPr/>
          <p:nvPr/>
        </p:nvSpPr>
        <p:spPr>
          <a:xfrm xmlns:a="http://schemas.openxmlformats.org/drawingml/2006/main">
            <a:off x="5384800" y="2641600"/>
            <a:ext cx="1473200" cy="25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/>
            <a:r>
              <a:rPr lang="en-US" sz="1100" b="0">
                <a:solidFill>
                  <a:srgbClr val="525252"/>
                </a:solidFill>
                <a:latin typeface="IBM Plex Sans"/>
                <a:ea typeface="IBM Plex Sans"/>
              </a:rPr>
              <a:t>Data Owner</a:t>
            </a:r>
          </a:p>
        </p:txBody>
      </p:sp>
      <p:sp>
        <p:nvSpPr>
          <p:cNvPr id="100144" name="TextBox 15"/>
          <p:cNvSpPr/>
          <p:nvPr/>
        </p:nvSpPr>
        <p:spPr>
          <a:xfrm xmlns:a="http://schemas.openxmlformats.org/drawingml/2006/main">
            <a:off x="6858000" y="1524000"/>
            <a:ext cx="1600200" cy="5588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8A3FFC"/>
          </a:solidFill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/>
            <a:r>
              <a:rPr lang="en-US" sz="1600" b="1">
                <a:solidFill>
                  <a:srgbClr val="FFFFFF"/>
                </a:solidFill>
                <a:latin typeface="IBM Plex Sans"/>
                <a:ea typeface="IBM Plex Sans"/>
              </a:rPr>
              <a:t>5</a:t>
            </a:r>
          </a:p>
        </p:txBody>
      </p:sp>
      <p:sp>
        <p:nvSpPr>
          <p:cNvPr id="100145" name="TextBox 16"/>
          <p:cNvSpPr/>
          <p:nvPr/>
        </p:nvSpPr>
        <p:spPr>
          <a:xfrm xmlns:a="http://schemas.openxmlformats.org/drawingml/2006/main">
            <a:off x="6908800" y="2184400"/>
            <a:ext cx="1473200" cy="431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/>
            <a:r>
              <a:rPr lang="en-US" sz="1100" b="1">
                <a:solidFill>
                  <a:srgbClr val="161616"/>
                </a:solidFill>
                <a:latin typeface="IBM Plex Sans"/>
                <a:ea typeface="IBM Plex Sans"/>
              </a:rPr>
              <a:t>ATTESTATION KEY</a:t>
            </a:r>
            <a:br/>
            <a:r>
              <a:rPr lang="en-US" sz="1100" b="1">
                <a:solidFill>
                  <a:srgbClr val="161616"/>
                </a:solidFill>
                <a:latin typeface="IBM Plex Sans"/>
                <a:ea typeface="IBM Plex Sans"/>
              </a:rPr>
              <a:t>REGISTERED</a:t>
            </a:r>
          </a:p>
        </p:txBody>
      </p:sp>
      <p:sp>
        <p:nvSpPr>
          <p:cNvPr id="100146" name="TextBox 17"/>
          <p:cNvSpPr/>
          <p:nvPr/>
        </p:nvSpPr>
        <p:spPr>
          <a:xfrm xmlns:a="http://schemas.openxmlformats.org/drawingml/2006/main">
            <a:off x="6908800" y="2641600"/>
            <a:ext cx="1473200" cy="25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/>
            <a:r>
              <a:rPr lang="en-US" sz="1100" b="0">
                <a:solidFill>
                  <a:srgbClr val="525252"/>
                </a:solidFill>
                <a:latin typeface="IBM Plex Sans"/>
                <a:ea typeface="IBM Plex Sans"/>
              </a:rPr>
              <a:t>Auditor</a:t>
            </a:r>
          </a:p>
        </p:txBody>
      </p:sp>
      <p:sp>
        <p:nvSpPr>
          <p:cNvPr id="100147" name="TextBox 18"/>
          <p:cNvSpPr/>
          <p:nvPr/>
        </p:nvSpPr>
        <p:spPr>
          <a:xfrm xmlns:a="http://schemas.openxmlformats.org/drawingml/2006/main">
            <a:off x="8382000" y="1524000"/>
            <a:ext cx="1600200" cy="5588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8A3FFC"/>
          </a:solidFill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/>
            <a:r>
              <a:rPr lang="en-US" sz="1600" b="1">
                <a:solidFill>
                  <a:srgbClr val="FFFFFF"/>
                </a:solidFill>
                <a:latin typeface="IBM Plex Sans"/>
                <a:ea typeface="IBM Plex Sans"/>
              </a:rPr>
              <a:t>6</a:t>
            </a:r>
          </a:p>
        </p:txBody>
      </p:sp>
      <p:sp>
        <p:nvSpPr>
          <p:cNvPr id="100148" name="TextBox 19"/>
          <p:cNvSpPr/>
          <p:nvPr/>
        </p:nvSpPr>
        <p:spPr>
          <a:xfrm xmlns:a="http://schemas.openxmlformats.org/drawingml/2006/main">
            <a:off x="8432800" y="2184400"/>
            <a:ext cx="1473200" cy="431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/>
            <a:r>
              <a:rPr lang="en-US" sz="1100" b="1">
                <a:solidFill>
                  <a:srgbClr val="161616"/>
                </a:solidFill>
                <a:latin typeface="IBM Plex Sans"/>
                <a:ea typeface="IBM Plex Sans"/>
              </a:rPr>
              <a:t>FINALIZED</a:t>
            </a:r>
          </a:p>
        </p:txBody>
      </p:sp>
      <p:sp>
        <p:nvSpPr>
          <p:cNvPr id="100149" name="TextBox 20"/>
          <p:cNvSpPr/>
          <p:nvPr/>
        </p:nvSpPr>
        <p:spPr>
          <a:xfrm xmlns:a="http://schemas.openxmlformats.org/drawingml/2006/main">
            <a:off x="8432800" y="2641600"/>
            <a:ext cx="1473200" cy="25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/>
            <a:r>
              <a:rPr lang="en-US" sz="1100" b="0">
                <a:solidFill>
                  <a:srgbClr val="525252"/>
                </a:solidFill>
                <a:latin typeface="IBM Plex Sans"/>
                <a:ea typeface="IBM Plex Sans"/>
              </a:rPr>
              <a:t>Auditor</a:t>
            </a:r>
          </a:p>
        </p:txBody>
      </p:sp>
      <p:sp>
        <p:nvSpPr>
          <p:cNvPr id="100150" name="TextBox 21"/>
          <p:cNvSpPr/>
          <p:nvPr/>
        </p:nvSpPr>
        <p:spPr>
          <a:xfrm xmlns:a="http://schemas.openxmlformats.org/drawingml/2006/main">
            <a:off x="9906000" y="1524000"/>
            <a:ext cx="1600200" cy="5588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24A148"/>
          </a:solidFill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/>
            <a:r>
              <a:rPr lang="en-US" sz="1600" b="1">
                <a:solidFill>
                  <a:srgbClr val="FFFFFF"/>
                </a:solidFill>
                <a:latin typeface="IBM Plex Sans"/>
                <a:ea typeface="IBM Plex Sans"/>
              </a:rPr>
              <a:t>7</a:t>
            </a:r>
          </a:p>
        </p:txBody>
      </p:sp>
      <p:sp>
        <p:nvSpPr>
          <p:cNvPr id="100151" name="TextBox 22"/>
          <p:cNvSpPr/>
          <p:nvPr/>
        </p:nvSpPr>
        <p:spPr>
          <a:xfrm xmlns:a="http://schemas.openxmlformats.org/drawingml/2006/main">
            <a:off x="9956800" y="2184400"/>
            <a:ext cx="1473200" cy="431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/>
            <a:r>
              <a:rPr lang="en-US" sz="1100" b="1">
                <a:solidFill>
                  <a:srgbClr val="161616"/>
                </a:solidFill>
                <a:latin typeface="IBM Plex Sans"/>
                <a:ea typeface="IBM Plex Sans"/>
              </a:rPr>
              <a:t>CONTRACT</a:t>
            </a:r>
            <a:br/>
            <a:r>
              <a:rPr lang="en-US" sz="1100" b="1">
                <a:solidFill>
                  <a:srgbClr val="161616"/>
                </a:solidFill>
                <a:latin typeface="IBM Plex Sans"/>
                <a:ea typeface="IBM Plex Sans"/>
              </a:rPr>
              <a:t>DOWNLOADED</a:t>
            </a:r>
          </a:p>
        </p:txBody>
      </p:sp>
      <p:sp>
        <p:nvSpPr>
          <p:cNvPr id="100152" name="TextBox 23"/>
          <p:cNvSpPr/>
          <p:nvPr/>
        </p:nvSpPr>
        <p:spPr>
          <a:xfrm xmlns:a="http://schemas.openxmlformats.org/drawingml/2006/main">
            <a:off x="9956800" y="2641600"/>
            <a:ext cx="1473200" cy="25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/>
            <a:r>
              <a:rPr lang="en-US" sz="1100" b="0">
                <a:solidFill>
                  <a:srgbClr val="525252"/>
                </a:solidFill>
                <a:latin typeface="IBM Plex Sans"/>
                <a:ea typeface="IBM Plex Sans"/>
              </a:rPr>
              <a:t>Env Operator</a:t>
            </a:r>
          </a:p>
        </p:txBody>
      </p:sp>
      <p:sp>
        <p:nvSpPr>
          <p:cNvPr id="100153" name="TextBox 24"/>
          <p:cNvSpPr/>
          <p:nvPr/>
        </p:nvSpPr>
        <p:spPr>
          <a:xfrm xmlns:a="http://schemas.openxmlformats.org/drawingml/2006/main">
            <a:off x="762000" y="3111500"/>
            <a:ext cx="10668000" cy="12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E0E0"/>
          </a:solidFill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/>
            <a:endParaRPr lang="en-US" sz="1600" b="0">
              <a:solidFill>
                <a:srgbClr val="161616"/>
              </a:solidFill>
              <a:latin typeface="IBM Plex Sans"/>
              <a:ea typeface="IBM Plex Sans"/>
            </a:endParaRPr>
          </a:p>
        </p:txBody>
      </p:sp>
      <p:sp>
        <p:nvSpPr>
          <p:cNvPr id="100154" name="TextBox 25"/>
          <p:cNvSpPr/>
          <p:nvPr/>
        </p:nvSpPr>
        <p:spPr>
          <a:xfrm xmlns:a="http://schemas.openxmlformats.org/drawingml/2006/main">
            <a:off x="762000" y="3327400"/>
            <a:ext cx="3810000" cy="279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/>
            <a:r>
              <a:rPr lang="en-US" sz="1600" b="1">
                <a:solidFill>
                  <a:srgbClr val="0F62FE"/>
                </a:solidFill>
                <a:latin typeface="IBM Plex Sans"/>
                <a:ea typeface="IBM Plex Sans"/>
              </a:rPr>
              <a:t>Rules in code</a:t>
            </a:r>
          </a:p>
        </p:txBody>
      </p:sp>
      <p:sp>
        <p:nvSpPr>
          <p:cNvPr id="100155" name="TextBox 26"/>
          <p:cNvSpPr/>
          <p:nvPr/>
        </p:nvSpPr>
        <p:spPr>
          <a:xfrm xmlns:a="http://schemas.openxmlformats.org/drawingml/2006/main">
            <a:off x="762000" y="3708400"/>
            <a:ext cx="58420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marL="457200" indent="-457200" algn="l">
              <a:spcAft>
                <a:spcPts val="600"/>
              </a:spcAft>
              <a:buChar char="•"/>
            </a:pPr>
            <a:r>
              <a:rPr lang="en-US" sz="1400" b="0">
                <a:solidFill>
                  <a:srgbClr val="161616"/>
                </a:solidFill>
                <a:latin typeface="IBM Plex Sans"/>
                <a:ea typeface="IBM Plex Sans"/>
              </a:rPr>
              <a:t>Use status.CanTransitionTo(next); never compare strings by hand</a:t>
            </a:r>
          </a:p>
          <a:p xmlns:a="http://schemas.openxmlformats.org/drawingml/2006/main">
            <a:pPr marL="457200" indent="-457200" algn="l">
              <a:spcAft>
                <a:spcPts val="600"/>
              </a:spcAft>
              <a:buChar char="•"/>
            </a:pPr>
            <a:r>
              <a:rPr lang="en-US" sz="1400" b="0">
                <a:solidFill>
                  <a:srgbClr val="161616"/>
                </a:solidFill>
                <a:latin typeface="IBM Plex Sans"/>
                <a:ea typeface="IBM Plex Sans"/>
              </a:rPr>
              <a:t>Cancel is allowed from any state before FINALIZED</a:t>
            </a:r>
          </a:p>
          <a:p xmlns:a="http://schemas.openxmlformats.org/drawingml/2006/main">
            <a:pPr marL="457200" indent="-457200" algn="l">
              <a:spcAft>
                <a:spcPts val="600"/>
              </a:spcAft>
              <a:buChar char="•"/>
            </a:pPr>
            <a:r>
              <a:rPr lang="en-US" sz="1400" b="0">
                <a:solidFill>
                  <a:srgbClr val="161616"/>
                </a:solidFill>
                <a:latin typeface="IBM Plex Sans"/>
                <a:ea typeface="IBM Plex Sans"/>
              </a:rPr>
              <a:t>IsTerminal(): FINALIZED, CONTRACT_DOWNLOADED, CANCELLED</a:t>
            </a:r>
          </a:p>
          <a:p xmlns:a="http://schemas.openxmlformats.org/drawingml/2006/main">
            <a:pPr marL="457200" indent="-457200" algn="l">
              <a:spcAft>
                <a:spcPts val="600"/>
              </a:spcAft>
              <a:buChar char="•"/>
            </a:pPr>
            <a:r>
              <a:rPr lang="en-US" sz="1400" b="0">
                <a:solidFill>
                  <a:srgbClr val="161616"/>
                </a:solidFill>
                <a:latin typeface="IBM Plex Sans"/>
                <a:ea typeface="IBM Plex Sans"/>
              </a:rPr>
              <a:t>Download acknowledgment happens once and can't be undone</a:t>
            </a:r>
          </a:p>
        </p:txBody>
      </p:sp>
      <p:sp>
        <p:nvSpPr>
          <p:cNvPr id="100156" name="TextBox 27"/>
          <p:cNvSpPr/>
          <p:nvPr/>
        </p:nvSpPr>
        <p:spPr>
          <a:xfrm xmlns:a="http://schemas.openxmlformats.org/drawingml/2006/main">
            <a:off x="6985000" y="3327400"/>
            <a:ext cx="4318000" cy="279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/>
            <a:r>
              <a:rPr lang="en-US" sz="1600" b="1">
                <a:solidFill>
                  <a:srgbClr val="0F62FE"/>
                </a:solidFill>
                <a:latin typeface="IBM Plex Sans"/>
                <a:ea typeface="IBM Plex Sans"/>
              </a:rPr>
              <a:t>Attestation (after download)</a:t>
            </a:r>
          </a:p>
        </p:txBody>
      </p:sp>
      <p:sp>
        <p:nvSpPr>
          <p:cNvPr id="100157" name="TextBox 28"/>
          <p:cNvSpPr/>
          <p:nvPr/>
        </p:nvSpPr>
        <p:spPr>
          <a:xfrm xmlns:a="http://schemas.openxmlformats.org/drawingml/2006/main">
            <a:off x="6985000" y="3708400"/>
            <a:ext cx="4445000" cy="101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</a:pPr>
            <a:r>
              <a:rPr lang="en-US" sz="1300" b="0">
                <a:solidFill>
                  <a:srgbClr val="161616"/>
                </a:solidFill>
                <a:latin typeface="IBM Plex Mono"/>
                <a:ea typeface="IBM Plex Mono"/>
              </a:rPr>
              <a:t>PENDING_UPLOAD → UPLOADED</a:t>
            </a:r>
          </a:p>
          <a:p xmlns:a="http://schemas.openxmlformats.org/drawingml/2006/main">
            <a:pPr algn="l">
              <a:lnSpc>
                <a:spcPct val="130000"/>
              </a:lnSpc>
            </a:pPr>
            <a:r>
              <a:rPr lang="en-US" sz="1300" b="0">
                <a:solidFill>
                  <a:srgbClr val="161616"/>
                </a:solidFill>
                <a:latin typeface="IBM Plex Mono"/>
                <a:ea typeface="IBM Plex Mono"/>
              </a:rPr>
              <a:t>→ VERIFIED | REJECTED</a:t>
            </a:r>
          </a:p>
          <a:p xmlns:a="http://schemas.openxmlformats.org/drawingml/2006/main">
            <a:pPr algn="l">
              <a:lnSpc>
                <a:spcPct val="130000"/>
              </a:lnSpc>
            </a:pPr>
            <a:r>
              <a:rPr lang="en-US" sz="1300" b="0">
                <a:solidFill>
                  <a:srgbClr val="161616"/>
                </a:solidFill>
                <a:latin typeface="IBM Plex Mono"/>
                <a:ea typeface="IBM Plex Mono"/>
              </a:rPr>
              <a:t>REJECTED → re-upload</a:t>
            </a:r>
          </a:p>
        </p:txBody>
      </p:sp>
      <p:sp>
        <p:nvSpPr>
          <p:cNvPr id="100158" name="TextBox 29"/>
          <p:cNvSpPr/>
          <p:nvPr/>
        </p:nvSpPr>
        <p:spPr>
          <a:xfrm xmlns:a="http://schemas.openxmlformats.org/drawingml/2006/main">
            <a:off x="6985000" y="5016500"/>
            <a:ext cx="4318000" cy="25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/>
            <a:r>
              <a:rPr lang="en-US" sz="1200" b="0">
                <a:solidFill>
                  <a:srgbClr val="525252"/>
                </a:solidFill>
                <a:latin typeface="IBM Plex Mono"/>
                <a:ea typeface="IBM Plex Mono"/>
              </a:rPr>
              <a:t>See internal/model/build.go</a:t>
            </a:r>
          </a:p>
        </p:txBody>
      </p:sp>
      <p:sp>
        <p:nvSpPr>
          <p:cNvPr id="100159" name="TextBox 30"/>
          <p:cNvSpPr/>
          <p:nvPr/>
        </p:nvSpPr>
        <p:spPr>
          <a:xfrm xmlns:a="http://schemas.openxmlformats.org/drawingml/2006/main">
            <a:off x="762000" y="6324600"/>
            <a:ext cx="5080000" cy="17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/>
            <a:r>
              <a:rPr lang="en-US" sz="1000" b="0">
                <a:solidFill>
                  <a:srgbClr val="525252"/>
                </a:solidFill>
                <a:latin typeface="IBM Plex Sans"/>
                <a:ea typeface="IBM Plex Sans"/>
              </a:rPr>
              <a:t>Contract Manager · Intern Onboarding</a:t>
            </a:r>
          </a:p>
        </p:txBody>
      </p:sp>
      <p:sp>
        <p:nvSpPr>
          <p:cNvPr id="100160" name="TextBox 31"/>
          <p:cNvSpPr/>
          <p:nvPr/>
        </p:nvSpPr>
        <p:spPr>
          <a:xfrm xmlns:a="http://schemas.openxmlformats.org/drawingml/2006/main">
            <a:off x="10922000" y="6324600"/>
            <a:ext cx="508000" cy="17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/>
            <a:r>
              <a:rPr lang="en-US" sz="1000" b="0">
                <a:solidFill>
                  <a:srgbClr val="525252"/>
                </a:solidFill>
                <a:latin typeface="IBM Plex Sans"/>
                <a:ea typeface="IBM Plex Sans"/>
              </a:rPr>
              <a:t>8</a:t>
            </a:r>
          </a:p>
        </p:txBody>
      </p:sp>
    </p:spTree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100161" name="TextBox 1"/>
          <p:cNvSpPr/>
          <p:nvPr/>
        </p:nvSpPr>
        <p:spPr>
          <a:xfrm xmlns:a="http://schemas.openxmlformats.org/drawingml/2006/main">
            <a:off x="762000" y="571500"/>
            <a:ext cx="10668000" cy="20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/>
            <a:r>
              <a:rPr lang="en-US" sz="1100" b="1">
                <a:solidFill>
                  <a:srgbClr val="0F62FE"/>
                </a:solidFill>
                <a:latin typeface="IBM Plex Sans"/>
                <a:ea typeface="IBM Plex Sans"/>
              </a:rPr>
              <a:t>SECURITY MODEL</a:t>
            </a:r>
          </a:p>
        </p:txBody>
      </p:sp>
      <p:sp>
        <p:nvSpPr>
          <p:cNvPr id="100162" name="TextBox 2"/>
          <p:cNvSpPr/>
          <p:nvPr/>
        </p:nvSpPr>
        <p:spPr>
          <a:xfrm xmlns:a="http://schemas.openxmlformats.org/drawingml/2006/main">
            <a:off x="762000" y="800100"/>
            <a:ext cx="10668000" cy="431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/>
            <a:r>
              <a:rPr lang="en-US" sz="2400" b="1">
                <a:solidFill>
                  <a:srgbClr val="161616"/>
                </a:solidFill>
                <a:latin typeface="IBM Plex Sans"/>
                <a:ea typeface="IBM Plex Sans"/>
              </a:rPr>
              <a:t>Three security ideas you will meet every day</a:t>
            </a:r>
          </a:p>
        </p:txBody>
      </p:sp>
      <p:sp>
        <p:nvSpPr>
          <p:cNvPr id="100163" name="TextBox 3"/>
          <p:cNvSpPr/>
          <p:nvPr/>
        </p:nvSpPr>
        <p:spPr>
          <a:xfrm xmlns:a="http://schemas.openxmlformats.org/drawingml/2006/main">
            <a:off x="762000" y="1422400"/>
            <a:ext cx="3386667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62FE"/>
          </a:solidFill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/>
            <a:endParaRPr lang="en-US" sz="1600" b="0">
              <a:solidFill>
                <a:srgbClr val="161616"/>
              </a:solidFill>
              <a:latin typeface="IBM Plex Sans"/>
              <a:ea typeface="IBM Plex Sans"/>
            </a:endParaRPr>
          </a:p>
        </p:txBody>
      </p:sp>
      <p:sp>
        <p:nvSpPr>
          <p:cNvPr id="100164" name="TextBox 4"/>
          <p:cNvSpPr/>
          <p:nvPr/>
        </p:nvSpPr>
        <p:spPr>
          <a:xfrm xmlns:a="http://schemas.openxmlformats.org/drawingml/2006/main">
            <a:off x="762000" y="1625600"/>
            <a:ext cx="3386667" cy="355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/>
            <a:r>
              <a:rPr lang="en-US" sz="2000" b="1">
                <a:solidFill>
                  <a:srgbClr val="0F62FE"/>
                </a:solidFill>
                <a:latin typeface="IBM Plex Sans"/>
                <a:ea typeface="IBM Plex Sans"/>
              </a:rPr>
              <a:t>Identity keys</a:t>
            </a:r>
          </a:p>
        </p:txBody>
      </p:sp>
      <p:sp>
        <p:nvSpPr>
          <p:cNvPr id="100165" name="TextBox 5"/>
          <p:cNvSpPr/>
          <p:nvPr/>
        </p:nvSpPr>
        <p:spPr>
          <a:xfrm xmlns:a="http://schemas.openxmlformats.org/drawingml/2006/main">
            <a:off x="762000" y="2133600"/>
            <a:ext cx="3386667" cy="342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marL="457200" indent="-457200" algn="l">
              <a:lnSpc>
                <a:spcPct val="110000"/>
              </a:lnSpc>
              <a:spcAft>
                <a:spcPts val="800"/>
              </a:spcAft>
              <a:buChar char="•"/>
            </a:pPr>
            <a:r>
              <a:rPr lang="en-US" sz="1400" b="0">
                <a:solidFill>
                  <a:srgbClr val="161616"/>
                </a:solidFill>
                <a:latin typeface="IBM Plex Sans"/>
                <a:ea typeface="IBM Plex Sans"/>
              </a:rPr>
              <a:t>Each user has an RSA-4096 key pair</a:t>
            </a:r>
          </a:p>
          <a:p xmlns:a="http://schemas.openxmlformats.org/drawingml/2006/main">
            <a:pPr marL="457200" indent="-457200" algn="l">
              <a:lnSpc>
                <a:spcPct val="110000"/>
              </a:lnSpc>
              <a:spcAft>
                <a:spcPts val="800"/>
              </a:spcAft>
              <a:buChar char="•"/>
            </a:pPr>
            <a:r>
              <a:rPr lang="en-US" sz="1400" b="0">
                <a:solidFill>
                  <a:srgbClr val="161616"/>
                </a:solidFill>
                <a:latin typeface="IBM Plex Sans"/>
                <a:ea typeface="IBM Plex Sans"/>
              </a:rPr>
              <a:t>The private key never leaves the user's machine</a:t>
            </a:r>
          </a:p>
          <a:p xmlns:a="http://schemas.openxmlformats.org/drawingml/2006/main">
            <a:pPr marL="457200" indent="-457200" algn="l">
              <a:lnSpc>
                <a:spcPct val="110000"/>
              </a:lnSpc>
              <a:spcAft>
                <a:spcPts val="800"/>
              </a:spcAft>
              <a:buChar char="•"/>
            </a:pPr>
            <a:r>
              <a:rPr lang="en-US" sz="1400" b="0">
                <a:solidFill>
                  <a:srgbClr val="161616"/>
                </a:solidFill>
                <a:latin typeface="IBM Plex Sans"/>
                <a:ea typeface="IBM Plex Sans"/>
              </a:rPr>
              <a:t>Public key is registered and expires after 90 days</a:t>
            </a:r>
          </a:p>
          <a:p xmlns:a="http://schemas.openxmlformats.org/drawingml/2006/main">
            <a:pPr marL="457200" indent="-457200" algn="l">
              <a:lnSpc>
                <a:spcPct val="110000"/>
              </a:lnSpc>
              <a:spcAft>
                <a:spcPts val="800"/>
              </a:spcAft>
              <a:buChar char="•"/>
            </a:pPr>
            <a:r>
              <a:rPr lang="en-US" sz="1400" b="0">
                <a:solidFill>
                  <a:srgbClr val="161616"/>
                </a:solidFill>
                <a:latin typeface="IBM Plex Sans"/>
                <a:ea typeface="IBM Plex Sans"/>
              </a:rPr>
              <a:t>Setup guard blocks users until setup is done</a:t>
            </a:r>
          </a:p>
        </p:txBody>
      </p:sp>
      <p:sp>
        <p:nvSpPr>
          <p:cNvPr id="100166" name="TextBox 6"/>
          <p:cNvSpPr/>
          <p:nvPr/>
        </p:nvSpPr>
        <p:spPr>
          <a:xfrm xmlns:a="http://schemas.openxmlformats.org/drawingml/2006/main">
            <a:off x="4402667" y="1422400"/>
            <a:ext cx="3386667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3FFC"/>
          </a:solidFill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/>
            <a:endParaRPr lang="en-US" sz="1600" b="0">
              <a:solidFill>
                <a:srgbClr val="161616"/>
              </a:solidFill>
              <a:latin typeface="IBM Plex Sans"/>
              <a:ea typeface="IBM Plex Sans"/>
            </a:endParaRPr>
          </a:p>
        </p:txBody>
      </p:sp>
      <p:sp>
        <p:nvSpPr>
          <p:cNvPr id="100167" name="TextBox 7"/>
          <p:cNvSpPr/>
          <p:nvPr/>
        </p:nvSpPr>
        <p:spPr>
          <a:xfrm xmlns:a="http://schemas.openxmlformats.org/drawingml/2006/main">
            <a:off x="4402667" y="1625600"/>
            <a:ext cx="3386667" cy="355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/>
            <a:r>
              <a:rPr lang="en-US" sz="2000" b="1">
                <a:solidFill>
                  <a:srgbClr val="8A3FFC"/>
                </a:solidFill>
                <a:latin typeface="IBM Plex Sans"/>
                <a:ea typeface="IBM Plex Sans"/>
              </a:rPr>
              <a:t>Signed requests</a:t>
            </a:r>
          </a:p>
        </p:txBody>
      </p:sp>
      <p:sp>
        <p:nvSpPr>
          <p:cNvPr id="100168" name="TextBox 8"/>
          <p:cNvSpPr/>
          <p:nvPr/>
        </p:nvSpPr>
        <p:spPr>
          <a:xfrm xmlns:a="http://schemas.openxmlformats.org/drawingml/2006/main">
            <a:off x="4402667" y="2133600"/>
            <a:ext cx="3386667" cy="342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marL="457200" indent="-457200" algn="l">
              <a:lnSpc>
                <a:spcPct val="110000"/>
              </a:lnSpc>
              <a:spcAft>
                <a:spcPts val="800"/>
              </a:spcAft>
              <a:buChar char="•"/>
            </a:pPr>
            <a:r>
              <a:rPr lang="en-US" sz="1400" b="0">
                <a:solidFill>
                  <a:srgbClr val="161616"/>
                </a:solidFill>
                <a:latin typeface="IBM Plex Sans"/>
                <a:ea typeface="IBM Plex Sans"/>
              </a:rPr>
              <a:t>POST / PUT / PATCH / DELETE need X-Signature, X-Signature-Hash and X-Timestamp</a:t>
            </a:r>
          </a:p>
          <a:p xmlns:a="http://schemas.openxmlformats.org/drawingml/2006/main">
            <a:pPr marL="457200" indent="-457200" algn="l">
              <a:lnSpc>
                <a:spcPct val="110000"/>
              </a:lnSpc>
              <a:spcAft>
                <a:spcPts val="800"/>
              </a:spcAft>
              <a:buChar char="•"/>
            </a:pPr>
            <a:r>
              <a:rPr lang="en-US" sz="1400" b="0">
                <a:solidFill>
                  <a:srgbClr val="161616"/>
                </a:solidFill>
                <a:latin typeface="IBM Plex Sans"/>
                <a:ea typeface="IBM Plex Sans"/>
              </a:rPr>
              <a:t>Timestamp must be within ±5 min (anti-replay)</a:t>
            </a:r>
          </a:p>
          <a:p xmlns:a="http://schemas.openxmlformats.org/drawingml/2006/main">
            <a:pPr marL="457200" indent="-457200" algn="l">
              <a:lnSpc>
                <a:spcPct val="110000"/>
              </a:lnSpc>
              <a:spcAft>
                <a:spcPts val="800"/>
              </a:spcAft>
              <a:buChar char="•"/>
            </a:pPr>
            <a:r>
              <a:rPr lang="en-US" sz="1400" b="0">
                <a:solidFill>
                  <a:srgbClr val="161616"/>
                </a:solidFill>
                <a:latin typeface="IBM Plex Sans"/>
                <a:ea typeface="IBM Plex Sans"/>
              </a:rPr>
              <a:t>Exempt: logout, own password change, own public key</a:t>
            </a:r>
          </a:p>
        </p:txBody>
      </p:sp>
      <p:sp>
        <p:nvSpPr>
          <p:cNvPr id="100169" name="TextBox 9"/>
          <p:cNvSpPr/>
          <p:nvPr/>
        </p:nvSpPr>
        <p:spPr>
          <a:xfrm xmlns:a="http://schemas.openxmlformats.org/drawingml/2006/main">
            <a:off x="8043333" y="1422400"/>
            <a:ext cx="3386667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D9A"/>
          </a:solidFill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/>
            <a:endParaRPr lang="en-US" sz="1600" b="0">
              <a:solidFill>
                <a:srgbClr val="161616"/>
              </a:solidFill>
              <a:latin typeface="IBM Plex Sans"/>
              <a:ea typeface="IBM Plex Sans"/>
            </a:endParaRPr>
          </a:p>
        </p:txBody>
      </p:sp>
      <p:sp>
        <p:nvSpPr>
          <p:cNvPr id="100170" name="TextBox 10"/>
          <p:cNvSpPr/>
          <p:nvPr/>
        </p:nvSpPr>
        <p:spPr>
          <a:xfrm xmlns:a="http://schemas.openxmlformats.org/drawingml/2006/main">
            <a:off x="8043333" y="1625600"/>
            <a:ext cx="3386667" cy="355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/>
            <a:r>
              <a:rPr lang="en-US" sz="2000" b="1">
                <a:solidFill>
                  <a:srgbClr val="009D9A"/>
                </a:solidFill>
                <a:latin typeface="IBM Plex Sans"/>
                <a:ea typeface="IBM Plex Sans"/>
              </a:rPr>
              <a:t>Audit hash chain</a:t>
            </a:r>
          </a:p>
        </p:txBody>
      </p:sp>
      <p:sp>
        <p:nvSpPr>
          <p:cNvPr id="100171" name="TextBox 11"/>
          <p:cNvSpPr/>
          <p:nvPr/>
        </p:nvSpPr>
        <p:spPr>
          <a:xfrm xmlns:a="http://schemas.openxmlformats.org/drawingml/2006/main">
            <a:off x="8043333" y="2133600"/>
            <a:ext cx="3386667" cy="342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marL="457200" indent="-457200" algn="l">
              <a:lnSpc>
                <a:spcPct val="110000"/>
              </a:lnSpc>
              <a:spcAft>
                <a:spcPts val="800"/>
              </a:spcAft>
              <a:buChar char="•"/>
            </a:pPr>
            <a:r>
              <a:rPr lang="en-US" sz="1400" b="0">
                <a:solidFill>
                  <a:srgbClr val="161616"/>
                </a:solidFill>
                <a:latin typeface="IBM Plex Sans"/>
                <a:ea typeface="IBM Plex Sans"/>
              </a:rPr>
              <a:t>Genesis = SHA256("IBM_CC:" + build_id)</a:t>
            </a:r>
          </a:p>
          <a:p xmlns:a="http://schemas.openxmlformats.org/drawingml/2006/main">
            <a:pPr marL="457200" indent="-457200" algn="l">
              <a:lnSpc>
                <a:spcPct val="110000"/>
              </a:lnSpc>
              <a:spcAft>
                <a:spcPts val="800"/>
              </a:spcAft>
              <a:buChar char="•"/>
            </a:pPr>
            <a:r>
              <a:rPr lang="en-US" sz="1400" b="0">
                <a:solidFill>
                  <a:srgbClr val="161616"/>
                </a:solidFill>
                <a:latin typeface="IBM Plex Sans"/>
                <a:ea typeface="IBM Plex Sans"/>
              </a:rPr>
              <a:t>Each event hash includes the previous hash</a:t>
            </a:r>
          </a:p>
          <a:p xmlns:a="http://schemas.openxmlformats.org/drawingml/2006/main">
            <a:pPr marL="457200" indent="-457200" algn="l">
              <a:lnSpc>
                <a:spcPct val="110000"/>
              </a:lnSpc>
              <a:spcAft>
                <a:spcPts val="800"/>
              </a:spcAft>
              <a:buChar char="•"/>
            </a:pPr>
            <a:r>
              <a:rPr lang="en-US" sz="1400" b="0">
                <a:solidFill>
                  <a:srgbClr val="161616"/>
                </a:solidFill>
                <a:latin typeface="IBM Plex Sans"/>
                <a:ea typeface="IBM Plex Sans"/>
              </a:rPr>
              <a:t>Changing any event breaks the chain</a:t>
            </a:r>
          </a:p>
          <a:p xmlns:a="http://schemas.openxmlformats.org/drawingml/2006/main">
            <a:pPr marL="457200" indent="-457200" algn="l">
              <a:lnSpc>
                <a:spcPct val="110000"/>
              </a:lnSpc>
              <a:spcAft>
                <a:spcPts val="800"/>
              </a:spcAft>
              <a:buChar char="•"/>
            </a:pPr>
            <a:r>
              <a:rPr lang="en-US" sz="1400" b="0">
                <a:solidFill>
                  <a:srgbClr val="161616"/>
                </a:solidFill>
                <a:latin typeface="IBM Plex Sans"/>
                <a:ea typeface="IBM Plex Sans"/>
              </a:rPr>
              <a:t>Check with GET /builds/{id}/verify</a:t>
            </a:r>
          </a:p>
        </p:txBody>
      </p:sp>
      <p:sp>
        <p:nvSpPr>
          <p:cNvPr id="100172" name="TextBox 12"/>
          <p:cNvSpPr/>
          <p:nvPr/>
        </p:nvSpPr>
        <p:spPr>
          <a:xfrm xmlns:a="http://schemas.openxmlformats.org/drawingml/2006/main">
            <a:off x="762000" y="6324600"/>
            <a:ext cx="5080000" cy="17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/>
            <a:r>
              <a:rPr lang="en-US" sz="1000" b="0">
                <a:solidFill>
                  <a:srgbClr val="525252"/>
                </a:solidFill>
                <a:latin typeface="IBM Plex Sans"/>
                <a:ea typeface="IBM Plex Sans"/>
              </a:rPr>
              <a:t>Contract Manager · Intern Onboarding</a:t>
            </a:r>
          </a:p>
        </p:txBody>
      </p:sp>
      <p:sp>
        <p:nvSpPr>
          <p:cNvPr id="100173" name="TextBox 13"/>
          <p:cNvSpPr/>
          <p:nvPr/>
        </p:nvSpPr>
        <p:spPr>
          <a:xfrm xmlns:a="http://schemas.openxmlformats.org/drawingml/2006/main">
            <a:off x="10922000" y="6324600"/>
            <a:ext cx="508000" cy="17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/>
            <a:r>
              <a:rPr lang="en-US" sz="1000" b="0">
                <a:solidFill>
                  <a:srgbClr val="525252"/>
                </a:solidFill>
                <a:latin typeface="IBM Plex Sans"/>
                <a:ea typeface="IBM Plex Sans"/>
              </a:rPr>
              <a:t>9</a:t>
            </a:r>
          </a:p>
        </p:txBody>
      </p:sp>
    </p:spTree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F62FE"/>
        </a:solidFill>
      </p:bgPr>
    </p:bg>
    <p:spTree>
      <p:nvGrpSpPr>
        <p:cNvPr id="1" name=""/>
        <p:cNvGrpSpPr/>
        <p:nvPr/>
      </p:nvGrpSpPr>
      <p:grpSpPr/>
      <p:sp>
        <p:nvSpPr>
          <p:cNvPr id="100174" name="TextBox 1"/>
          <p:cNvSpPr/>
          <p:nvPr/>
        </p:nvSpPr>
        <p:spPr>
          <a:xfrm xmlns:a="http://schemas.openxmlformats.org/drawingml/2006/main">
            <a:off x="762000" y="571500"/>
            <a:ext cx="10668000" cy="20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/>
            <a:r>
              <a:rPr lang="en-US" sz="1100" b="1">
                <a:solidFill>
                  <a:srgbClr val="78A9FF"/>
                </a:solidFill>
                <a:latin typeface="IBM Plex Sans"/>
                <a:ea typeface="IBM Plex Sans"/>
              </a:rPr>
              <a:t>QUICK REFERENCE</a:t>
            </a:r>
          </a:p>
        </p:txBody>
      </p:sp>
      <p:sp>
        <p:nvSpPr>
          <p:cNvPr id="100175" name="TextBox 2"/>
          <p:cNvSpPr/>
          <p:nvPr/>
        </p:nvSpPr>
        <p:spPr>
          <a:xfrm xmlns:a="http://schemas.openxmlformats.org/drawingml/2006/main">
            <a:off x="762000" y="800100"/>
            <a:ext cx="10668000" cy="431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/>
            <a:r>
              <a:rPr lang="en-US" sz="2400" b="1">
                <a:solidFill>
                  <a:srgbClr val="FFFFFF"/>
                </a:solidFill>
                <a:latin typeface="IBM Plex Sans"/>
                <a:ea typeface="IBM Plex Sans"/>
              </a:rPr>
              <a:t>Numbers worth remembering</a:t>
            </a:r>
          </a:p>
        </p:txBody>
      </p:sp>
      <p:sp>
        <p:nvSpPr>
          <p:cNvPr id="100176" name="TextBox 3"/>
          <p:cNvSpPr/>
          <p:nvPr/>
        </p:nvSpPr>
        <p:spPr>
          <a:xfrm xmlns:a="http://schemas.openxmlformats.org/drawingml/2006/main">
            <a:off x="762000" y="1460500"/>
            <a:ext cx="3302000" cy="71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/>
            <a:r>
              <a:rPr lang="en-US" sz="4000" b="1">
                <a:solidFill>
                  <a:srgbClr val="FFFFFF"/>
                </a:solidFill>
                <a:latin typeface="IBM Plex Sans"/>
                <a:ea typeface="IBM Plex Sans"/>
              </a:rPr>
              <a:t>RSA-4096</a:t>
            </a:r>
          </a:p>
        </p:txBody>
      </p:sp>
      <p:sp>
        <p:nvSpPr>
          <p:cNvPr id="100177" name="TextBox 4"/>
          <p:cNvSpPr/>
          <p:nvPr/>
        </p:nvSpPr>
        <p:spPr>
          <a:xfrm xmlns:a="http://schemas.openxmlformats.org/drawingml/2006/main">
            <a:off x="762000" y="2273300"/>
            <a:ext cx="508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/>
            <a:endParaRPr lang="en-US" sz="1600" b="0">
              <a:solidFill>
                <a:srgbClr val="161616"/>
              </a:solidFill>
              <a:latin typeface="IBM Plex Sans"/>
              <a:ea typeface="IBM Plex Sans"/>
            </a:endParaRPr>
          </a:p>
        </p:txBody>
      </p:sp>
      <p:sp>
        <p:nvSpPr>
          <p:cNvPr id="100178" name="TextBox 5"/>
          <p:cNvSpPr/>
          <p:nvPr/>
        </p:nvSpPr>
        <p:spPr>
          <a:xfrm xmlns:a="http://schemas.openxmlformats.org/drawingml/2006/main">
            <a:off x="762000" y="2425700"/>
            <a:ext cx="3175000" cy="63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/>
            <a:r>
              <a:rPr lang="en-US" sz="1400" b="0">
                <a:solidFill>
                  <a:srgbClr val="D0E2FF"/>
                </a:solidFill>
                <a:latin typeface="IBM Plex Sans"/>
                <a:ea typeface="IBM Plex Sans"/>
              </a:rPr>
              <a:t>identity, signing and</a:t>
            </a:r>
          </a:p>
          <a:p xmlns:a="http://schemas.openxmlformats.org/drawingml/2006/main">
            <a:pPr algn="l"/>
            <a:r>
              <a:rPr lang="en-US" sz="1400" b="0">
                <a:solidFill>
                  <a:srgbClr val="D0E2FF"/>
                </a:solidFill>
                <a:latin typeface="IBM Plex Sans"/>
                <a:ea typeface="IBM Plex Sans"/>
              </a:rPr>
              <a:t>attestation keys</a:t>
            </a:r>
          </a:p>
        </p:txBody>
      </p:sp>
      <p:sp>
        <p:nvSpPr>
          <p:cNvPr id="100179" name="TextBox 6"/>
          <p:cNvSpPr/>
          <p:nvPr/>
        </p:nvSpPr>
        <p:spPr>
          <a:xfrm xmlns:a="http://schemas.openxmlformats.org/drawingml/2006/main">
            <a:off x="4318000" y="1460500"/>
            <a:ext cx="3302000" cy="71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/>
            <a:r>
              <a:rPr lang="en-US" sz="4000" b="1">
                <a:solidFill>
                  <a:srgbClr val="FFFFFF"/>
                </a:solidFill>
                <a:latin typeface="IBM Plex Sans"/>
                <a:ea typeface="IBM Plex Sans"/>
              </a:rPr>
              <a:t>±5 min</a:t>
            </a:r>
          </a:p>
        </p:txBody>
      </p:sp>
      <p:sp>
        <p:nvSpPr>
          <p:cNvPr id="100180" name="TextBox 7"/>
          <p:cNvSpPr/>
          <p:nvPr/>
        </p:nvSpPr>
        <p:spPr>
          <a:xfrm xmlns:a="http://schemas.openxmlformats.org/drawingml/2006/main">
            <a:off x="4318000" y="2273300"/>
            <a:ext cx="508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/>
            <a:endParaRPr lang="en-US" sz="1600" b="0">
              <a:solidFill>
                <a:srgbClr val="161616"/>
              </a:solidFill>
              <a:latin typeface="IBM Plex Sans"/>
              <a:ea typeface="IBM Plex Sans"/>
            </a:endParaRPr>
          </a:p>
        </p:txBody>
      </p:sp>
      <p:sp>
        <p:nvSpPr>
          <p:cNvPr id="100181" name="TextBox 8"/>
          <p:cNvSpPr/>
          <p:nvPr/>
        </p:nvSpPr>
        <p:spPr>
          <a:xfrm xmlns:a="http://schemas.openxmlformats.org/drawingml/2006/main">
            <a:off x="4318000" y="2425700"/>
            <a:ext cx="3175000" cy="63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/>
            <a:r>
              <a:rPr lang="en-US" sz="1400" b="0">
                <a:solidFill>
                  <a:srgbClr val="D0E2FF"/>
                </a:solidFill>
                <a:latin typeface="IBM Plex Sans"/>
                <a:ea typeface="IBM Plex Sans"/>
              </a:rPr>
              <a:t>signature timestamp</a:t>
            </a:r>
          </a:p>
          <a:p xmlns:a="http://schemas.openxmlformats.org/drawingml/2006/main">
            <a:pPr algn="l"/>
            <a:r>
              <a:rPr lang="en-US" sz="1400" b="0">
                <a:solidFill>
                  <a:srgbClr val="D0E2FF"/>
                </a:solidFill>
                <a:latin typeface="IBM Plex Sans"/>
                <a:ea typeface="IBM Plex Sans"/>
              </a:rPr>
              <a:t>tolerance</a:t>
            </a:r>
          </a:p>
        </p:txBody>
      </p:sp>
      <p:sp>
        <p:nvSpPr>
          <p:cNvPr id="100182" name="TextBox 9"/>
          <p:cNvSpPr/>
          <p:nvPr/>
        </p:nvSpPr>
        <p:spPr>
          <a:xfrm xmlns:a="http://schemas.openxmlformats.org/drawingml/2006/main">
            <a:off x="7874000" y="1460500"/>
            <a:ext cx="3302000" cy="71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/>
            <a:r>
              <a:rPr lang="en-US" sz="4000" b="1">
                <a:solidFill>
                  <a:srgbClr val="FFFFFF"/>
                </a:solidFill>
                <a:latin typeface="IBM Plex Sans"/>
                <a:ea typeface="IBM Plex Sans"/>
              </a:rPr>
              <a:t>90 days</a:t>
            </a:r>
          </a:p>
        </p:txBody>
      </p:sp>
      <p:sp>
        <p:nvSpPr>
          <p:cNvPr id="100183" name="TextBox 10"/>
          <p:cNvSpPr/>
          <p:nvPr/>
        </p:nvSpPr>
        <p:spPr>
          <a:xfrm xmlns:a="http://schemas.openxmlformats.org/drawingml/2006/main">
            <a:off x="7874000" y="2273300"/>
            <a:ext cx="508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/>
            <a:endParaRPr lang="en-US" sz="1600" b="0">
              <a:solidFill>
                <a:srgbClr val="161616"/>
              </a:solidFill>
              <a:latin typeface="IBM Plex Sans"/>
              <a:ea typeface="IBM Plex Sans"/>
            </a:endParaRPr>
          </a:p>
        </p:txBody>
      </p:sp>
      <p:sp>
        <p:nvSpPr>
          <p:cNvPr id="100184" name="TextBox 11"/>
          <p:cNvSpPr/>
          <p:nvPr/>
        </p:nvSpPr>
        <p:spPr>
          <a:xfrm xmlns:a="http://schemas.openxmlformats.org/drawingml/2006/main">
            <a:off x="7874000" y="2425700"/>
            <a:ext cx="3175000" cy="63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/>
            <a:r>
              <a:rPr lang="en-US" sz="1400" b="0">
                <a:solidFill>
                  <a:srgbClr val="D0E2FF"/>
                </a:solidFill>
                <a:latin typeface="IBM Plex Sans"/>
                <a:ea typeface="IBM Plex Sans"/>
              </a:rPr>
              <a:t>password and public</a:t>
            </a:r>
          </a:p>
          <a:p xmlns:a="http://schemas.openxmlformats.org/drawingml/2006/main">
            <a:pPr algn="l"/>
            <a:r>
              <a:rPr lang="en-US" sz="1400" b="0">
                <a:solidFill>
                  <a:srgbClr val="D0E2FF"/>
                </a:solidFill>
                <a:latin typeface="IBM Plex Sans"/>
                <a:ea typeface="IBM Plex Sans"/>
              </a:rPr>
              <a:t>key rotation</a:t>
            </a:r>
          </a:p>
        </p:txBody>
      </p:sp>
      <p:sp>
        <p:nvSpPr>
          <p:cNvPr id="100185" name="TextBox 12"/>
          <p:cNvSpPr/>
          <p:nvPr/>
        </p:nvSpPr>
        <p:spPr>
          <a:xfrm xmlns:a="http://schemas.openxmlformats.org/drawingml/2006/main">
            <a:off x="762000" y="3556000"/>
            <a:ext cx="3302000" cy="71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/>
            <a:r>
              <a:rPr lang="en-US" sz="4000" b="1">
                <a:solidFill>
                  <a:srgbClr val="FFFFFF"/>
                </a:solidFill>
                <a:latin typeface="IBM Plex Sans"/>
                <a:ea typeface="IBM Plex Sans"/>
              </a:rPr>
              <a:t>6 roles</a:t>
            </a:r>
          </a:p>
        </p:txBody>
      </p:sp>
      <p:sp>
        <p:nvSpPr>
          <p:cNvPr id="100186" name="TextBox 13"/>
          <p:cNvSpPr/>
          <p:nvPr/>
        </p:nvSpPr>
        <p:spPr>
          <a:xfrm xmlns:a="http://schemas.openxmlformats.org/drawingml/2006/main">
            <a:off x="762000" y="4368800"/>
            <a:ext cx="508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/>
            <a:endParaRPr lang="en-US" sz="1600" b="0">
              <a:solidFill>
                <a:srgbClr val="161616"/>
              </a:solidFill>
              <a:latin typeface="IBM Plex Sans"/>
              <a:ea typeface="IBM Plex Sans"/>
            </a:endParaRPr>
          </a:p>
        </p:txBody>
      </p:sp>
      <p:sp>
        <p:nvSpPr>
          <p:cNvPr id="100187" name="TextBox 14"/>
          <p:cNvSpPr/>
          <p:nvPr/>
        </p:nvSpPr>
        <p:spPr>
          <a:xfrm xmlns:a="http://schemas.openxmlformats.org/drawingml/2006/main">
            <a:off x="762000" y="4521200"/>
            <a:ext cx="3175000" cy="63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/>
            <a:r>
              <a:rPr lang="en-US" sz="1400" b="0">
                <a:solidFill>
                  <a:srgbClr val="D0E2FF"/>
                </a:solidFill>
                <a:latin typeface="IBM Plex Sans"/>
                <a:ea typeface="IBM Plex Sans"/>
              </a:rPr>
              <a:t>plus explicit per-build</a:t>
            </a:r>
          </a:p>
          <a:p xmlns:a="http://schemas.openxmlformats.org/drawingml/2006/main">
            <a:pPr algn="l"/>
            <a:r>
              <a:rPr lang="en-US" sz="1400" b="0">
                <a:solidFill>
                  <a:srgbClr val="D0E2FF"/>
                </a:solidFill>
                <a:latin typeface="IBM Plex Sans"/>
                <a:ea typeface="IBM Plex Sans"/>
              </a:rPr>
              <a:t>assignment</a:t>
            </a:r>
          </a:p>
        </p:txBody>
      </p:sp>
      <p:sp>
        <p:nvSpPr>
          <p:cNvPr id="100188" name="TextBox 15"/>
          <p:cNvSpPr/>
          <p:nvPr/>
        </p:nvSpPr>
        <p:spPr>
          <a:xfrm xmlns:a="http://schemas.openxmlformats.org/drawingml/2006/main">
            <a:off x="4318000" y="3556000"/>
            <a:ext cx="3302000" cy="71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/>
            <a:r>
              <a:rPr lang="en-US" sz="4000" b="1">
                <a:solidFill>
                  <a:srgbClr val="FFFFFF"/>
                </a:solidFill>
                <a:latin typeface="IBM Plex Sans"/>
                <a:ea typeface="IBM Plex Sans"/>
              </a:rPr>
              <a:t>1 MB</a:t>
            </a:r>
          </a:p>
        </p:txBody>
      </p:sp>
      <p:sp>
        <p:nvSpPr>
          <p:cNvPr id="100189" name="TextBox 16"/>
          <p:cNvSpPr/>
          <p:nvPr/>
        </p:nvSpPr>
        <p:spPr>
          <a:xfrm xmlns:a="http://schemas.openxmlformats.org/drawingml/2006/main">
            <a:off x="4318000" y="4368800"/>
            <a:ext cx="508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/>
            <a:endParaRPr lang="en-US" sz="1600" b="0">
              <a:solidFill>
                <a:srgbClr val="161616"/>
              </a:solidFill>
              <a:latin typeface="IBM Plex Sans"/>
              <a:ea typeface="IBM Plex Sans"/>
            </a:endParaRPr>
          </a:p>
        </p:txBody>
      </p:sp>
      <p:sp>
        <p:nvSpPr>
          <p:cNvPr id="100190" name="TextBox 17"/>
          <p:cNvSpPr/>
          <p:nvPr/>
        </p:nvSpPr>
        <p:spPr>
          <a:xfrm xmlns:a="http://schemas.openxmlformats.org/drawingml/2006/main">
            <a:off x="4318000" y="4521200"/>
            <a:ext cx="3175000" cy="63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/>
            <a:r>
              <a:rPr lang="en-US" sz="1400" b="0">
                <a:solidFill>
                  <a:srgbClr val="D0E2FF"/>
                </a:solidFill>
                <a:latin typeface="IBM Plex Sans"/>
                <a:ea typeface="IBM Plex Sans"/>
              </a:rPr>
              <a:t>readJSON body limit</a:t>
            </a:r>
          </a:p>
          <a:p xmlns:a="http://schemas.openxmlformats.org/drawingml/2006/main">
            <a:pPr algn="l"/>
            <a:r>
              <a:rPr lang="en-US" sz="1400" b="0">
                <a:solidFill>
                  <a:srgbClr val="D0E2FF"/>
                </a:solidFill>
                <a:latin typeface="IBM Plex Sans"/>
                <a:ea typeface="IBM Plex Sans"/>
              </a:rPr>
              <a:t>(readJSONLarge for big ones)</a:t>
            </a:r>
          </a:p>
        </p:txBody>
      </p:sp>
      <p:sp>
        <p:nvSpPr>
          <p:cNvPr id="100191" name="TextBox 18"/>
          <p:cNvSpPr/>
          <p:nvPr/>
        </p:nvSpPr>
        <p:spPr>
          <a:xfrm xmlns:a="http://schemas.openxmlformats.org/drawingml/2006/main">
            <a:off x="7874000" y="3556000"/>
            <a:ext cx="3302000" cy="71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/>
            <a:r>
              <a:rPr lang="en-US" sz="4000" b="1">
                <a:solidFill>
                  <a:srgbClr val="FFFFFF"/>
                </a:solidFill>
                <a:latin typeface="IBM Plex Sans"/>
                <a:ea typeface="IBM Plex Sans"/>
              </a:rPr>
              <a:t>20</a:t>
            </a:r>
          </a:p>
        </p:txBody>
      </p:sp>
      <p:sp>
        <p:nvSpPr>
          <p:cNvPr id="100192" name="TextBox 19"/>
          <p:cNvSpPr/>
          <p:nvPr/>
        </p:nvSpPr>
        <p:spPr>
          <a:xfrm xmlns:a="http://schemas.openxmlformats.org/drawingml/2006/main">
            <a:off x="7874000" y="4368800"/>
            <a:ext cx="508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/>
            <a:endParaRPr lang="en-US" sz="1600" b="0">
              <a:solidFill>
                <a:srgbClr val="161616"/>
              </a:solidFill>
              <a:latin typeface="IBM Plex Sans"/>
              <a:ea typeface="IBM Plex Sans"/>
            </a:endParaRPr>
          </a:p>
        </p:txBody>
      </p:sp>
      <p:sp>
        <p:nvSpPr>
          <p:cNvPr id="100193" name="TextBox 20"/>
          <p:cNvSpPr/>
          <p:nvPr/>
        </p:nvSpPr>
        <p:spPr>
          <a:xfrm xmlns:a="http://schemas.openxmlformats.org/drawingml/2006/main">
            <a:off x="7874000" y="4521200"/>
            <a:ext cx="3175000" cy="63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/>
            <a:r>
              <a:rPr lang="en-US" sz="1400" b="0">
                <a:solidFill>
                  <a:srgbClr val="D0E2FF"/>
                </a:solidFill>
                <a:latin typeface="IBM Plex Sans"/>
                <a:ea typeface="IBM Plex Sans"/>
              </a:rPr>
              <a:t>numbered DB migrations,</a:t>
            </a:r>
          </a:p>
          <a:p xmlns:a="http://schemas.openxmlformats.org/drawingml/2006/main">
            <a:pPr algn="l"/>
            <a:r>
              <a:rPr lang="en-US" sz="1400" b="0">
                <a:solidFill>
                  <a:srgbClr val="D0E2FF"/>
                </a:solidFill>
                <a:latin typeface="IBM Plex Sans"/>
                <a:ea typeface="IBM Plex Sans"/>
              </a:rPr>
              <a:t>each with up + down</a:t>
            </a:r>
          </a:p>
        </p:txBody>
      </p:sp>
      <p:sp>
        <p:nvSpPr>
          <p:cNvPr id="100194" name="TextBox 21"/>
          <p:cNvSpPr/>
          <p:nvPr/>
        </p:nvSpPr>
        <p:spPr>
          <a:xfrm xmlns:a="http://schemas.openxmlformats.org/drawingml/2006/main">
            <a:off x="762000" y="6324600"/>
            <a:ext cx="5080000" cy="17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/>
            <a:r>
              <a:rPr lang="en-US" sz="1000" b="0">
                <a:solidFill>
                  <a:srgbClr val="8D8D8D"/>
                </a:solidFill>
                <a:latin typeface="IBM Plex Sans"/>
                <a:ea typeface="IBM Plex Sans"/>
              </a:rPr>
              <a:t>Contract Manager · Intern Onboarding</a:t>
            </a:r>
          </a:p>
        </p:txBody>
      </p:sp>
      <p:sp>
        <p:nvSpPr>
          <p:cNvPr id="100195" name="TextBox 22"/>
          <p:cNvSpPr/>
          <p:nvPr/>
        </p:nvSpPr>
        <p:spPr>
          <a:xfrm xmlns:a="http://schemas.openxmlformats.org/drawingml/2006/main">
            <a:off x="10922000" y="6324600"/>
            <a:ext cx="508000" cy="17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/>
            <a:r>
              <a:rPr lang="en-US" sz="1000" b="0">
                <a:solidFill>
                  <a:srgbClr val="8D8D8D"/>
                </a:solidFill>
                <a:latin typeface="IBM Plex Sans"/>
                <a:ea typeface="IBM Plex Sans"/>
              </a:rPr>
              <a:t>10</a:t>
            </a:r>
          </a:p>
        </p:txBody>
      </p:sp>
    </p:spTree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100196" name="TextBox 1"/>
          <p:cNvSpPr/>
          <p:nvPr/>
        </p:nvSpPr>
        <p:spPr>
          <a:xfrm xmlns:a="http://schemas.openxmlformats.org/drawingml/2006/main">
            <a:off x="762000" y="571500"/>
            <a:ext cx="10668000" cy="20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/>
            <a:r>
              <a:rPr lang="en-US" sz="1100" b="1">
                <a:solidFill>
                  <a:srgbClr val="0F62FE"/>
                </a:solidFill>
                <a:latin typeface="IBM Plex Sans"/>
                <a:ea typeface="IBM Plex Sans"/>
              </a:rPr>
              <a:t>CODE REVIEW CHECKLIST</a:t>
            </a:r>
          </a:p>
        </p:txBody>
      </p:sp>
      <p:sp>
        <p:nvSpPr>
          <p:cNvPr id="100197" name="TextBox 2"/>
          <p:cNvSpPr/>
          <p:nvPr/>
        </p:nvSpPr>
        <p:spPr>
          <a:xfrm xmlns:a="http://schemas.openxmlformats.org/drawingml/2006/main">
            <a:off x="762000" y="800100"/>
            <a:ext cx="10668000" cy="431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/>
            <a:r>
              <a:rPr lang="en-US" sz="2400" b="1">
                <a:solidFill>
                  <a:srgbClr val="161616"/>
                </a:solidFill>
                <a:latin typeface="IBM Plex Sans"/>
                <a:ea typeface="IBM Plex Sans"/>
              </a:rPr>
              <a:t>Rules we never break</a:t>
            </a:r>
          </a:p>
        </p:txBody>
      </p:sp>
      <p:sp>
        <p:nvSpPr>
          <p:cNvPr id="100198" name="TextBox 3"/>
          <p:cNvSpPr/>
          <p:nvPr/>
        </p:nvSpPr>
        <p:spPr>
          <a:xfrm xmlns:a="http://schemas.openxmlformats.org/drawingml/2006/main">
            <a:off x="762000" y="1397000"/>
            <a:ext cx="5143500" cy="425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FBE6"/>
          </a:solidFill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/>
            <a:endParaRPr lang="en-US" sz="1600" b="0">
              <a:solidFill>
                <a:srgbClr val="161616"/>
              </a:solidFill>
              <a:latin typeface="IBM Plex Sans"/>
              <a:ea typeface="IBM Plex Sans"/>
            </a:endParaRPr>
          </a:p>
        </p:txBody>
      </p:sp>
      <p:sp>
        <p:nvSpPr>
          <p:cNvPr id="100199" name="TextBox 4"/>
          <p:cNvSpPr/>
          <p:nvPr/>
        </p:nvSpPr>
        <p:spPr>
          <a:xfrm xmlns:a="http://schemas.openxmlformats.org/drawingml/2006/main">
            <a:off x="1016000" y="1549400"/>
            <a:ext cx="2540000" cy="33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/>
            <a:r>
              <a:rPr lang="en-US" sz="1800" b="1">
                <a:solidFill>
                  <a:srgbClr val="0E6027"/>
                </a:solidFill>
                <a:latin typeface="IBM Plex Sans"/>
                <a:ea typeface="IBM Plex Sans"/>
              </a:rPr>
              <a:t>Do</a:t>
            </a:r>
          </a:p>
        </p:txBody>
      </p:sp>
      <p:sp>
        <p:nvSpPr>
          <p:cNvPr id="100200" name="TextBox 5"/>
          <p:cNvSpPr/>
          <p:nvPr/>
        </p:nvSpPr>
        <p:spPr>
          <a:xfrm xmlns:a="http://schemas.openxmlformats.org/drawingml/2006/main">
            <a:off x="1016000" y="1981200"/>
            <a:ext cx="4635500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marL="457200" indent="-457200" algn="l">
              <a:spcAft>
                <a:spcPts val="700"/>
              </a:spcAft>
              <a:buChar char="•"/>
            </a:pPr>
            <a:r>
              <a:rPr lang="en-US" sz="1400" b="0">
                <a:solidFill>
                  <a:srgbClr val="161616"/>
                </a:solidFill>
                <a:latin typeface="IBM Plex Sans"/>
                <a:ea typeface="IBM Plex Sans"/>
              </a:rPr>
              <a:t>Return errors with model.ErrXxx(...) via writeError(w, ...)</a:t>
            </a:r>
          </a:p>
          <a:p xmlns:a="http://schemas.openxmlformats.org/drawingml/2006/main">
            <a:pPr marL="457200" indent="-457200" algn="l">
              <a:spcAft>
                <a:spcPts val="700"/>
              </a:spcAft>
              <a:buChar char="•"/>
            </a:pPr>
            <a:r>
              <a:rPr lang="en-US" sz="1400" b="0">
                <a:solidFill>
                  <a:srgbClr val="161616"/>
                </a:solidFill>
                <a:latin typeface="IBM Plex Sans"/>
                <a:ea typeface="IBM Plex Sans"/>
              </a:rPr>
              <a:t>Wrap internal errors: fmt.Errorf("ctx: %w", err)</a:t>
            </a:r>
          </a:p>
          <a:p xmlns:a="http://schemas.openxmlformats.org/drawingml/2006/main">
            <a:pPr marL="457200" indent="-457200" algn="l">
              <a:spcAft>
                <a:spcPts val="700"/>
              </a:spcAft>
              <a:buChar char="•"/>
            </a:pPr>
            <a:r>
              <a:rPr lang="en-US" sz="1400" b="0">
                <a:solidFill>
                  <a:srgbClr val="161616"/>
                </a:solidFill>
                <a:latin typeface="IBM Plex Sans"/>
                <a:ea typeface="IBM Plex Sans"/>
              </a:rPr>
              <a:t>Use readJSON / readJSONLarge; call drainBody on early exits</a:t>
            </a:r>
          </a:p>
          <a:p xmlns:a="http://schemas.openxmlformats.org/drawingml/2006/main">
            <a:pPr marL="457200" indent="-457200" algn="l">
              <a:spcAft>
                <a:spcPts val="700"/>
              </a:spcAft>
              <a:buChar char="•"/>
            </a:pPr>
            <a:r>
              <a:rPr lang="en-US" sz="1400" b="0">
                <a:solidFill>
                  <a:srgbClr val="161616"/>
                </a:solidFill>
                <a:latin typeface="IBM Plex Sans"/>
                <a:ea typeface="IBM Plex Sans"/>
              </a:rPr>
              <a:t>Edit queries/*.sql, then run sqlc generate</a:t>
            </a:r>
          </a:p>
          <a:p xmlns:a="http://schemas.openxmlformats.org/drawingml/2006/main">
            <a:pPr marL="457200" indent="-457200" algn="l">
              <a:spcAft>
                <a:spcPts val="700"/>
              </a:spcAft>
              <a:buChar char="•"/>
            </a:pPr>
            <a:r>
              <a:rPr lang="en-US" sz="1400" b="0">
                <a:solidFill>
                  <a:srgbClr val="161616"/>
                </a:solidFill>
                <a:latin typeface="IBM Plex Sans"/>
                <a:ea typeface="IBM Plex Sans"/>
              </a:rPr>
              <a:t>Log with log/slog + SystemLogService.LogEvent</a:t>
            </a:r>
          </a:p>
          <a:p xmlns:a="http://schemas.openxmlformats.org/drawingml/2006/main">
            <a:pPr marL="457200" indent="-457200" algn="l">
              <a:spcAft>
                <a:spcPts val="700"/>
              </a:spcAft>
              <a:buChar char="•"/>
            </a:pPr>
            <a:r>
              <a:rPr lang="en-US" sz="1400" b="0">
                <a:solidFill>
                  <a:srgbClr val="161616"/>
                </a:solidFill>
                <a:latin typeface="IBM Plex Sans"/>
                <a:ea typeface="IBM Plex Sans"/>
              </a:rPr>
              <a:t>Use keymgmt/mock as the KeyProvider in unit tests</a:t>
            </a:r>
          </a:p>
        </p:txBody>
      </p:sp>
      <p:sp>
        <p:nvSpPr>
          <p:cNvPr id="100201" name="TextBox 6"/>
          <p:cNvSpPr/>
          <p:nvPr/>
        </p:nvSpPr>
        <p:spPr>
          <a:xfrm xmlns:a="http://schemas.openxmlformats.org/drawingml/2006/main">
            <a:off x="6286500" y="1397000"/>
            <a:ext cx="5143500" cy="425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F1"/>
          </a:solidFill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/>
            <a:endParaRPr lang="en-US" sz="1600" b="0">
              <a:solidFill>
                <a:srgbClr val="161616"/>
              </a:solidFill>
              <a:latin typeface="IBM Plex Sans"/>
              <a:ea typeface="IBM Plex Sans"/>
            </a:endParaRPr>
          </a:p>
        </p:txBody>
      </p:sp>
      <p:sp>
        <p:nvSpPr>
          <p:cNvPr id="100202" name="TextBox 7"/>
          <p:cNvSpPr/>
          <p:nvPr/>
        </p:nvSpPr>
        <p:spPr>
          <a:xfrm xmlns:a="http://schemas.openxmlformats.org/drawingml/2006/main">
            <a:off x="6540500" y="1549400"/>
            <a:ext cx="2540000" cy="33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/>
            <a:r>
              <a:rPr lang="en-US" sz="1800" b="1">
                <a:solidFill>
                  <a:srgbClr val="A2191F"/>
                </a:solidFill>
                <a:latin typeface="IBM Plex Sans"/>
                <a:ea typeface="IBM Plex Sans"/>
              </a:rPr>
              <a:t>Don't</a:t>
            </a:r>
          </a:p>
        </p:txBody>
      </p:sp>
      <p:sp>
        <p:nvSpPr>
          <p:cNvPr id="100203" name="TextBox 8"/>
          <p:cNvSpPr/>
          <p:nvPr/>
        </p:nvSpPr>
        <p:spPr>
          <a:xfrm xmlns:a="http://schemas.openxmlformats.org/drawingml/2006/main">
            <a:off x="6540500" y="1981200"/>
            <a:ext cx="4635500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marL="457200" indent="-457200" algn="l">
              <a:spcAft>
                <a:spcPts val="700"/>
              </a:spcAft>
              <a:buChar char="•"/>
            </a:pPr>
            <a:r>
              <a:rPr lang="en-US" sz="1400" b="0">
                <a:solidFill>
                  <a:srgbClr val="161616"/>
                </a:solidFill>
                <a:latin typeface="IBM Plex Sans"/>
                <a:ea typeface="IBM Plex Sans"/>
              </a:rPr>
              <a:t>Don't call http.Error() or write ad-hoc JSON errors</a:t>
            </a:r>
          </a:p>
          <a:p xmlns:a="http://schemas.openxmlformats.org/drawingml/2006/main">
            <a:pPr marL="457200" indent="-457200" algn="l">
              <a:spcAft>
                <a:spcPts val="700"/>
              </a:spcAft>
              <a:buChar char="•"/>
            </a:pPr>
            <a:r>
              <a:rPr lang="en-US" sz="1400" b="0">
                <a:solidFill>
                  <a:srgbClr val="161616"/>
                </a:solidFill>
                <a:latin typeface="IBM Plex Sans"/>
                <a:ea typeface="IBM Plex Sans"/>
              </a:rPr>
              <a:t>Don't hand-edit internal/repository/*.sql.go</a:t>
            </a:r>
          </a:p>
          <a:p xmlns:a="http://schemas.openxmlformats.org/drawingml/2006/main">
            <a:pPr marL="457200" indent="-457200" algn="l">
              <a:spcAft>
                <a:spcPts val="700"/>
              </a:spcAft>
              <a:buChar char="•"/>
            </a:pPr>
            <a:r>
              <a:rPr lang="en-US" sz="1400" b="0">
                <a:solidFill>
                  <a:srgbClr val="161616"/>
                </a:solidFill>
                <a:latin typeface="IBM Plex Sans"/>
                <a:ea typeface="IBM Plex Sans"/>
              </a:rPr>
              <a:t>Don't use fmt.Println or log.Printf</a:t>
            </a:r>
          </a:p>
          <a:p xmlns:a="http://schemas.openxmlformats.org/drawingml/2006/main">
            <a:pPr marL="457200" indent="-457200" algn="l">
              <a:spcAft>
                <a:spcPts val="700"/>
              </a:spcAft>
              <a:buChar char="•"/>
            </a:pPr>
            <a:r>
              <a:rPr lang="en-US" sz="1400" b="0">
                <a:solidFill>
                  <a:srgbClr val="161616"/>
                </a:solidFill>
                <a:latin typeface="IBM Plex Sans"/>
                <a:ea typeface="IBM Plex Sans"/>
              </a:rPr>
              <a:t>Don't check roles inside handlers; use RequireRole middleware</a:t>
            </a:r>
          </a:p>
          <a:p xmlns:a="http://schemas.openxmlformats.org/drawingml/2006/main">
            <a:pPr marL="457200" indent="-457200" algn="l">
              <a:spcAft>
                <a:spcPts val="700"/>
              </a:spcAft>
              <a:buChar char="•"/>
            </a:pPr>
            <a:r>
              <a:rPr lang="en-US" sz="1400" b="0">
                <a:solidFill>
                  <a:srgbClr val="161616"/>
                </a:solidFill>
                <a:latin typeface="IBM Plex Sans"/>
                <a:ea typeface="IBM Plex Sans"/>
              </a:rPr>
              <a:t>Don't compare build status strings by hand</a:t>
            </a:r>
          </a:p>
          <a:p xmlns:a="http://schemas.openxmlformats.org/drawingml/2006/main">
            <a:pPr marL="457200" indent="-457200" algn="l">
              <a:spcAft>
                <a:spcPts val="700"/>
              </a:spcAft>
              <a:buChar char="•"/>
            </a:pPr>
            <a:r>
              <a:rPr lang="en-US" sz="1400" b="0">
                <a:solidFill>
                  <a:srgbClr val="161616"/>
                </a:solidFill>
                <a:latin typeface="IBM Plex Sans"/>
                <a:ea typeface="IBM Plex Sans"/>
              </a:rPr>
              <a:t>Don't log or hardcode secrets, passphrases or private keys</a:t>
            </a:r>
          </a:p>
        </p:txBody>
      </p:sp>
      <p:sp>
        <p:nvSpPr>
          <p:cNvPr id="100204" name="TextBox 9"/>
          <p:cNvSpPr/>
          <p:nvPr/>
        </p:nvSpPr>
        <p:spPr>
          <a:xfrm xmlns:a="http://schemas.openxmlformats.org/drawingml/2006/main">
            <a:off x="762000" y="6324600"/>
            <a:ext cx="5080000" cy="17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/>
            <a:r>
              <a:rPr lang="en-US" sz="1000" b="0">
                <a:solidFill>
                  <a:srgbClr val="525252"/>
                </a:solidFill>
                <a:latin typeface="IBM Plex Sans"/>
                <a:ea typeface="IBM Plex Sans"/>
              </a:rPr>
              <a:t>Contract Manager · Intern Onboarding</a:t>
            </a:r>
          </a:p>
        </p:txBody>
      </p:sp>
      <p:sp>
        <p:nvSpPr>
          <p:cNvPr id="100205" name="TextBox 10"/>
          <p:cNvSpPr/>
          <p:nvPr/>
        </p:nvSpPr>
        <p:spPr>
          <a:xfrm xmlns:a="http://schemas.openxmlformats.org/drawingml/2006/main">
            <a:off x="10922000" y="6324600"/>
            <a:ext cx="508000" cy="17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/>
            <a:r>
              <a:rPr lang="en-US" sz="1000" b="0">
                <a:solidFill>
                  <a:srgbClr val="525252"/>
                </a:solidFill>
                <a:latin typeface="IBM Plex Sans"/>
                <a:ea typeface="IBM Plex Sans"/>
              </a:rPr>
              <a:t>11</a:t>
            </a:r>
          </a:p>
        </p:txBody>
      </p:sp>
    </p:spTree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100206" name="TextBox 1"/>
          <p:cNvSpPr/>
          <p:nvPr/>
        </p:nvSpPr>
        <p:spPr>
          <a:xfrm xmlns:a="http://schemas.openxmlformats.org/drawingml/2006/main">
            <a:off x="762000" y="571500"/>
            <a:ext cx="10668000" cy="20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/>
            <a:r>
              <a:rPr lang="en-US" sz="1100" b="1">
                <a:solidFill>
                  <a:srgbClr val="0F62FE"/>
                </a:solidFill>
                <a:latin typeface="IBM Plex Sans"/>
                <a:ea typeface="IBM Plex Sans"/>
              </a:rPr>
              <a:t>GET RUNNING</a:t>
            </a:r>
          </a:p>
        </p:txBody>
      </p:sp>
      <p:sp>
        <p:nvSpPr>
          <p:cNvPr id="100207" name="TextBox 2"/>
          <p:cNvSpPr/>
          <p:nvPr/>
        </p:nvSpPr>
        <p:spPr>
          <a:xfrm xmlns:a="http://schemas.openxmlformats.org/drawingml/2006/main">
            <a:off x="762000" y="800100"/>
            <a:ext cx="10668000" cy="431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/>
            <a:r>
              <a:rPr lang="en-US" sz="2400" b="1">
                <a:solidFill>
                  <a:srgbClr val="161616"/>
                </a:solidFill>
                <a:latin typeface="IBM Plex Sans"/>
                <a:ea typeface="IBM Plex Sans"/>
              </a:rPr>
              <a:t>Local setup and daily commands</a:t>
            </a:r>
          </a:p>
        </p:txBody>
      </p:sp>
      <p:sp>
        <p:nvSpPr>
          <p:cNvPr id="100208" name="TextBox 3"/>
          <p:cNvSpPr/>
          <p:nvPr/>
        </p:nvSpPr>
        <p:spPr>
          <a:xfrm xmlns:a="http://schemas.openxmlformats.org/drawingml/2006/main">
            <a:off x="762000" y="1371600"/>
            <a:ext cx="6604000" cy="425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1616"/>
          </a:solidFill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/>
            <a:endParaRPr lang="en-US" sz="1600" b="0">
              <a:solidFill>
                <a:srgbClr val="161616"/>
              </a:solidFill>
              <a:latin typeface="IBM Plex Sans"/>
              <a:ea typeface="IBM Plex Sans"/>
            </a:endParaRPr>
          </a:p>
        </p:txBody>
      </p:sp>
      <p:sp>
        <p:nvSpPr>
          <p:cNvPr id="100209" name="TextBox 4"/>
          <p:cNvSpPr/>
          <p:nvPr/>
        </p:nvSpPr>
        <p:spPr>
          <a:xfrm xmlns:a="http://schemas.openxmlformats.org/drawingml/2006/main">
            <a:off x="1016000" y="1549400"/>
            <a:ext cx="6159500" cy="393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</a:pPr>
            <a:r>
              <a:rPr lang="en-US" sz="1200" b="0">
                <a:solidFill>
                  <a:srgbClr val="C6C6C6"/>
                </a:solidFill>
                <a:latin typeface="IBM Plex Mono"/>
                <a:ea typeface="IBM Plex Mono"/>
              </a:rPr>
              <a:t># start the stack (postgres, migrate, backend, nginx)</a:t>
            </a:r>
          </a:p>
          <a:p xmlns:a="http://schemas.openxmlformats.org/drawingml/2006/main">
            <a:pPr algn="l">
              <a:lnSpc>
                <a:spcPct val="120000"/>
              </a:lnSpc>
            </a:pPr>
            <a:r>
              <a:rPr lang="en-US" sz="1200" b="0">
                <a:solidFill>
                  <a:srgbClr val="C6C6C6"/>
                </a:solidFill>
                <a:latin typeface="IBM Plex Mono"/>
                <a:ea typeface="IBM Plex Mono"/>
              </a:rPr>
              <a:t>docker compose -f compose/docker-compose.yaml up -d</a:t>
            </a:r>
          </a:p>
          <a:p xmlns:a="http://schemas.openxmlformats.org/drawingml/2006/main">
            <a:pPr algn="l">
              <a:lnSpc>
                <a:spcPct val="120000"/>
              </a:lnSpc>
            </a:pPr>
            <a:r>
              <a:rPr lang="en-US" sz="1200" b="0">
                <a:solidFill>
                  <a:srgbClr val="C6C6C6"/>
                </a:solidFill>
                <a:latin typeface="IBM Plex Mono"/>
                <a:ea typeface="IBM Plex Mono"/>
              </a:rPr>
              <a:t/>
            </a:r>
          </a:p>
          <a:p xmlns:a="http://schemas.openxmlformats.org/drawingml/2006/main">
            <a:pPr algn="l">
              <a:lnSpc>
                <a:spcPct val="120000"/>
              </a:lnSpc>
            </a:pPr>
            <a:r>
              <a:rPr lang="en-US" sz="1200" b="0">
                <a:solidFill>
                  <a:srgbClr val="C6C6C6"/>
                </a:solidFill>
                <a:latin typeface="IBM Plex Mono"/>
                <a:ea typeface="IBM Plex Mono"/>
              </a:rPr>
              <a:t># build and check, from repo root</a:t>
            </a:r>
          </a:p>
          <a:p xmlns:a="http://schemas.openxmlformats.org/drawingml/2006/main">
            <a:pPr algn="l">
              <a:lnSpc>
                <a:spcPct val="120000"/>
              </a:lnSpc>
            </a:pPr>
            <a:r>
              <a:rPr lang="en-US" sz="1200" b="0">
                <a:solidFill>
                  <a:srgbClr val="C6C6C6"/>
                </a:solidFill>
                <a:latin typeface="IBM Plex Mono"/>
                <a:ea typeface="IBM Plex Mono"/>
              </a:rPr>
              <a:t>go build -o server ./cmd/server</a:t>
            </a:r>
          </a:p>
          <a:p xmlns:a="http://schemas.openxmlformats.org/drawingml/2006/main">
            <a:pPr algn="l">
              <a:lnSpc>
                <a:spcPct val="120000"/>
              </a:lnSpc>
            </a:pPr>
            <a:r>
              <a:rPr lang="en-US" sz="1200" b="0">
                <a:solidFill>
                  <a:srgbClr val="C6C6C6"/>
                </a:solidFill>
                <a:latin typeface="IBM Plex Mono"/>
                <a:ea typeface="IBM Plex Mono"/>
              </a:rPr>
              <a:t>go vet ./...</a:t>
            </a:r>
          </a:p>
          <a:p xmlns:a="http://schemas.openxmlformats.org/drawingml/2006/main">
            <a:pPr algn="l">
              <a:lnSpc>
                <a:spcPct val="120000"/>
              </a:lnSpc>
            </a:pPr>
            <a:r>
              <a:rPr lang="en-US" sz="1200" b="0">
                <a:solidFill>
                  <a:srgbClr val="C6C6C6"/>
                </a:solidFill>
                <a:latin typeface="IBM Plex Mono"/>
                <a:ea typeface="IBM Plex Mono"/>
              </a:rPr>
              <a:t>gofmt -w .</a:t>
            </a:r>
          </a:p>
          <a:p xmlns:a="http://schemas.openxmlformats.org/drawingml/2006/main">
            <a:pPr algn="l">
              <a:lnSpc>
                <a:spcPct val="120000"/>
              </a:lnSpc>
            </a:pPr>
            <a:r>
              <a:rPr lang="en-US" sz="1200" b="0">
                <a:solidFill>
                  <a:srgbClr val="C6C6C6"/>
                </a:solidFill>
                <a:latin typeface="IBM Plex Mono"/>
                <a:ea typeface="IBM Plex Mono"/>
              </a:rPr>
              <a:t>go test ./...</a:t>
            </a:r>
          </a:p>
          <a:p xmlns:a="http://schemas.openxmlformats.org/drawingml/2006/main">
            <a:pPr algn="l">
              <a:lnSpc>
                <a:spcPct val="120000"/>
              </a:lnSpc>
            </a:pPr>
            <a:r>
              <a:rPr lang="en-US" sz="1200" b="0">
                <a:solidFill>
                  <a:srgbClr val="C6C6C6"/>
                </a:solidFill>
                <a:latin typeface="IBM Plex Mono"/>
                <a:ea typeface="IBM Plex Mono"/>
              </a:rPr>
              <a:t>go test ./internal/service -run TestLogin</a:t>
            </a:r>
          </a:p>
          <a:p xmlns:a="http://schemas.openxmlformats.org/drawingml/2006/main">
            <a:pPr algn="l">
              <a:lnSpc>
                <a:spcPct val="120000"/>
              </a:lnSpc>
            </a:pPr>
            <a:r>
              <a:rPr lang="en-US" sz="1200" b="0">
                <a:solidFill>
                  <a:srgbClr val="C6C6C6"/>
                </a:solidFill>
                <a:latin typeface="IBM Plex Mono"/>
                <a:ea typeface="IBM Plex Mono"/>
              </a:rPr>
              <a:t/>
            </a:r>
          </a:p>
          <a:p xmlns:a="http://schemas.openxmlformats.org/drawingml/2006/main">
            <a:pPr algn="l">
              <a:lnSpc>
                <a:spcPct val="120000"/>
              </a:lnSpc>
            </a:pPr>
            <a:r>
              <a:rPr lang="en-US" sz="1200" b="0">
                <a:solidFill>
                  <a:srgbClr val="C6C6C6"/>
                </a:solidFill>
                <a:latin typeface="IBM Plex Mono"/>
                <a:ea typeface="IBM Plex Mono"/>
              </a:rPr>
              <a:t># after editing internal/repository/queries/*.sql</a:t>
            </a:r>
          </a:p>
          <a:p xmlns:a="http://schemas.openxmlformats.org/drawingml/2006/main">
            <a:pPr algn="l">
              <a:lnSpc>
                <a:spcPct val="120000"/>
              </a:lnSpc>
            </a:pPr>
            <a:r>
              <a:rPr lang="en-US" sz="1200" b="0">
                <a:solidFill>
                  <a:srgbClr val="C6C6C6"/>
                </a:solidFill>
                <a:latin typeface="IBM Plex Mono"/>
                <a:ea typeface="IBM Plex Mono"/>
              </a:rPr>
              <a:t>sqlc generate</a:t>
            </a:r>
          </a:p>
        </p:txBody>
      </p:sp>
      <p:sp>
        <p:nvSpPr>
          <p:cNvPr id="100210" name="TextBox 5"/>
          <p:cNvSpPr/>
          <p:nvPr/>
        </p:nvSpPr>
        <p:spPr>
          <a:xfrm xmlns:a="http://schemas.openxmlformats.org/drawingml/2006/main">
            <a:off x="7683500" y="1397000"/>
            <a:ext cx="374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/>
            <a:r>
              <a:rPr lang="en-US" sz="1600" b="1">
                <a:solidFill>
                  <a:srgbClr val="0F62FE"/>
                </a:solidFill>
                <a:latin typeface="IBM Plex Sans"/>
                <a:ea typeface="IBM Plex Sans"/>
              </a:rPr>
              <a:t>Required environment</a:t>
            </a:r>
          </a:p>
        </p:txBody>
      </p:sp>
      <p:sp>
        <p:nvSpPr>
          <p:cNvPr id="100211" name="TextBox 6"/>
          <p:cNvSpPr/>
          <p:nvPr/>
        </p:nvSpPr>
        <p:spPr>
          <a:xfrm xmlns:a="http://schemas.openxmlformats.org/drawingml/2006/main">
            <a:off x="7683500" y="1778000"/>
            <a:ext cx="374650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marL="457200" indent="-457200" algn="l">
              <a:spcAft>
                <a:spcPts val="500"/>
              </a:spcAft>
              <a:buChar char="•"/>
            </a:pPr>
            <a:r>
              <a:rPr lang="en-US" sz="1300" b="0">
                <a:solidFill>
                  <a:srgbClr val="161616"/>
                </a:solidFill>
                <a:latin typeface="IBM Plex Sans"/>
                <a:ea typeface="IBM Plex Sans"/>
              </a:rPr>
              <a:t>DATABASE_URL (required)</a:t>
            </a:r>
          </a:p>
          <a:p xmlns:a="http://schemas.openxmlformats.org/drawingml/2006/main">
            <a:pPr marL="457200" indent="-457200" algn="l">
              <a:spcAft>
                <a:spcPts val="500"/>
              </a:spcAft>
              <a:buChar char="•"/>
            </a:pPr>
            <a:r>
              <a:rPr lang="en-US" sz="1300" b="0">
                <a:solidFill>
                  <a:srgbClr val="161616"/>
                </a:solidFill>
                <a:latin typeface="IBM Plex Sans"/>
                <a:ea typeface="IBM Plex Sans"/>
              </a:rPr>
              <a:t>ADMIN_EMAIL / _PASSWORD / _NAME seed the first admin</a:t>
            </a:r>
          </a:p>
          <a:p xmlns:a="http://schemas.openxmlformats.org/drawingml/2006/main">
            <a:pPr marL="457200" indent="-457200" algn="l">
              <a:spcAft>
                <a:spcPts val="500"/>
              </a:spcAft>
              <a:buChar char="•"/>
            </a:pPr>
            <a:r>
              <a:rPr lang="en-US" sz="1300" b="0">
                <a:solidFill>
                  <a:srgbClr val="161616"/>
                </a:solidFill>
                <a:latin typeface="IBM Plex Sans"/>
                <a:ea typeface="IBM Plex Sans"/>
              </a:rPr>
              <a:t>TOKEN_EXPIRY (24h)</a:t>
            </a:r>
          </a:p>
          <a:p xmlns:a="http://schemas.openxmlformats.org/drawingml/2006/main">
            <a:pPr marL="457200" indent="-457200" algn="l">
              <a:spcAft>
                <a:spcPts val="500"/>
              </a:spcAft>
              <a:buChar char="•"/>
            </a:pPr>
            <a:r>
              <a:rPr lang="en-US" sz="1300" b="0">
                <a:solidFill>
                  <a:srgbClr val="161616"/>
                </a:solidFill>
                <a:latin typeface="IBM Plex Sans"/>
                <a:ea typeface="IBM Plex Sans"/>
              </a:rPr>
              <a:t>BCRYPT_COST (12)</a:t>
            </a:r>
          </a:p>
          <a:p xmlns:a="http://schemas.openxmlformats.org/drawingml/2006/main">
            <a:pPr marL="457200" indent="-457200" algn="l">
              <a:spcAft>
                <a:spcPts val="500"/>
              </a:spcAft>
              <a:buChar char="•"/>
            </a:pPr>
            <a:r>
              <a:rPr lang="en-US" sz="1300" b="0">
                <a:solidFill>
                  <a:srgbClr val="161616"/>
                </a:solidFill>
                <a:latin typeface="IBM Plex Sans"/>
                <a:ea typeface="IBM Plex Sans"/>
              </a:rPr>
              <a:t>LOG_FORMAT json | text</a:t>
            </a:r>
          </a:p>
        </p:txBody>
      </p:sp>
      <p:sp>
        <p:nvSpPr>
          <p:cNvPr id="100212" name="TextBox 7"/>
          <p:cNvSpPr/>
          <p:nvPr/>
        </p:nvSpPr>
        <p:spPr>
          <a:xfrm xmlns:a="http://schemas.openxmlformats.org/drawingml/2006/main">
            <a:off x="7683500" y="4191000"/>
            <a:ext cx="374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/>
            <a:r>
              <a:rPr lang="en-US" sz="1600" b="1">
                <a:solidFill>
                  <a:srgbClr val="0F62FE"/>
                </a:solidFill>
                <a:latin typeface="IBM Plex Sans"/>
                <a:ea typeface="IBM Plex Sans"/>
              </a:rPr>
              <a:t>Prerequisites</a:t>
            </a:r>
          </a:p>
        </p:txBody>
      </p:sp>
      <p:sp>
        <p:nvSpPr>
          <p:cNvPr id="100213" name="TextBox 8"/>
          <p:cNvSpPr/>
          <p:nvPr/>
        </p:nvSpPr>
        <p:spPr>
          <a:xfrm xmlns:a="http://schemas.openxmlformats.org/drawingml/2006/main">
            <a:off x="7683500" y="4546600"/>
            <a:ext cx="3746500" cy="88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/>
            <a:r>
              <a:rPr lang="en-US" sz="1300" b="0">
                <a:solidFill>
                  <a:srgbClr val="525252"/>
                </a:solidFill>
                <a:latin typeface="IBM Plex Sans"/>
                <a:ea typeface="IBM Plex Sans"/>
              </a:rPr>
              <a:t>Go 1.26 · Docker + Compose v2 · sqlc · Git with commit signing configured</a:t>
            </a:r>
          </a:p>
        </p:txBody>
      </p:sp>
      <p:sp>
        <p:nvSpPr>
          <p:cNvPr id="100214" name="TextBox 9"/>
          <p:cNvSpPr/>
          <p:nvPr/>
        </p:nvSpPr>
        <p:spPr>
          <a:xfrm xmlns:a="http://schemas.openxmlformats.org/drawingml/2006/main">
            <a:off x="762000" y="6324600"/>
            <a:ext cx="5080000" cy="17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/>
            <a:r>
              <a:rPr lang="en-US" sz="1000" b="0">
                <a:solidFill>
                  <a:srgbClr val="525252"/>
                </a:solidFill>
                <a:latin typeface="IBM Plex Sans"/>
                <a:ea typeface="IBM Plex Sans"/>
              </a:rPr>
              <a:t>Contract Manager · Intern Onboarding</a:t>
            </a:r>
          </a:p>
        </p:txBody>
      </p:sp>
      <p:sp>
        <p:nvSpPr>
          <p:cNvPr id="100215" name="TextBox 10"/>
          <p:cNvSpPr/>
          <p:nvPr/>
        </p:nvSpPr>
        <p:spPr>
          <a:xfrm xmlns:a="http://schemas.openxmlformats.org/drawingml/2006/main">
            <a:off x="10922000" y="6324600"/>
            <a:ext cx="508000" cy="17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/>
            <a:r>
              <a:rPr lang="en-US" sz="1000" b="0">
                <a:solidFill>
                  <a:srgbClr val="525252"/>
                </a:solidFill>
                <a:latin typeface="IBM Plex Sans"/>
                <a:ea typeface="IBM Plex Sans"/>
              </a:rPr>
              <a:t>12</a:t>
            </a:r>
          </a:p>
        </p:txBody>
      </p:sp>
    </p:spTree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100216" name="TextBox 1"/>
          <p:cNvSpPr/>
          <p:nvPr/>
        </p:nvSpPr>
        <p:spPr>
          <a:xfrm xmlns:a="http://schemas.openxmlformats.org/drawingml/2006/main">
            <a:off x="762000" y="571500"/>
            <a:ext cx="10668000" cy="20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/>
            <a:r>
              <a:rPr lang="en-US" sz="1100" b="1">
                <a:solidFill>
                  <a:srgbClr val="0F62FE"/>
                </a:solidFill>
                <a:latin typeface="IBM Plex Sans"/>
                <a:ea typeface="IBM Plex Sans"/>
              </a:rPr>
              <a:t>WALKTHROUGH</a:t>
            </a:r>
          </a:p>
        </p:txBody>
      </p:sp>
      <p:sp>
        <p:nvSpPr>
          <p:cNvPr id="100217" name="TextBox 2"/>
          <p:cNvSpPr/>
          <p:nvPr/>
        </p:nvSpPr>
        <p:spPr>
          <a:xfrm xmlns:a="http://schemas.openxmlformats.org/drawingml/2006/main">
            <a:off x="762000" y="800100"/>
            <a:ext cx="10668000" cy="431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/>
            <a:r>
              <a:rPr lang="en-US" sz="2400" b="1">
                <a:solidFill>
                  <a:srgbClr val="161616"/>
                </a:solidFill>
                <a:latin typeface="IBM Plex Sans"/>
                <a:ea typeface="IBM Plex Sans"/>
              </a:rPr>
              <a:t>Adding a feature end-to-end</a:t>
            </a:r>
          </a:p>
        </p:txBody>
      </p:sp>
      <p:sp>
        <p:nvSpPr>
          <p:cNvPr id="100218" name="TextBox 3"/>
          <p:cNvSpPr/>
          <p:nvPr/>
        </p:nvSpPr>
        <p:spPr>
          <a:xfrm xmlns:a="http://schemas.openxmlformats.org/drawingml/2006/main">
            <a:off x="977900" y="1803400"/>
            <a:ext cx="25400" cy="25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E0E0"/>
          </a:solidFill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/>
            <a:endParaRPr lang="en-US" sz="1600" b="0">
              <a:solidFill>
                <a:srgbClr val="161616"/>
              </a:solidFill>
              <a:latin typeface="IBM Plex Sans"/>
              <a:ea typeface="IBM Plex Sans"/>
            </a:endParaRPr>
          </a:p>
        </p:txBody>
      </p:sp>
      <p:sp>
        <p:nvSpPr>
          <p:cNvPr id="100219" name="TextBox 4"/>
          <p:cNvSpPr/>
          <p:nvPr/>
        </p:nvSpPr>
        <p:spPr>
          <a:xfrm xmlns:a="http://schemas.openxmlformats.org/drawingml/2006/main">
            <a:off x="762000" y="13462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62FE"/>
          </a:solidFill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/>
            <a:r>
              <a:rPr lang="en-US" sz="1600" b="1">
                <a:solidFill>
                  <a:srgbClr val="FFFFFF"/>
                </a:solidFill>
                <a:latin typeface="IBM Plex Sans"/>
                <a:ea typeface="IBM Plex Sans"/>
              </a:rPr>
              <a:t>1</a:t>
            </a:r>
          </a:p>
        </p:txBody>
      </p:sp>
      <p:sp>
        <p:nvSpPr>
          <p:cNvPr id="100220" name="TextBox 5"/>
          <p:cNvSpPr/>
          <p:nvPr/>
        </p:nvSpPr>
        <p:spPr>
          <a:xfrm xmlns:a="http://schemas.openxmlformats.org/drawingml/2006/main">
            <a:off x="1422400" y="1435100"/>
            <a:ext cx="139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/>
            <a:r>
              <a:rPr lang="en-US" sz="1600" b="1">
                <a:solidFill>
                  <a:srgbClr val="161616"/>
                </a:solidFill>
                <a:latin typeface="IBM Plex Sans"/>
                <a:ea typeface="IBM Plex Sans"/>
              </a:rPr>
              <a:t>SQL</a:t>
            </a:r>
          </a:p>
        </p:txBody>
      </p:sp>
      <p:sp>
        <p:nvSpPr>
          <p:cNvPr id="100221" name="TextBox 6"/>
          <p:cNvSpPr/>
          <p:nvPr/>
        </p:nvSpPr>
        <p:spPr>
          <a:xfrm xmlns:a="http://schemas.openxmlformats.org/drawingml/2006/main">
            <a:off x="2921000" y="1447800"/>
            <a:ext cx="8509000" cy="50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/>
            <a:r>
              <a:rPr lang="en-US" sz="1400" b="0">
                <a:solidFill>
                  <a:srgbClr val="525252"/>
                </a:solidFill>
                <a:latin typeface="IBM Plex Sans"/>
                <a:ea typeface="IBM Plex Sans"/>
              </a:rPr>
              <a:t>Add a query in internal/repository/queries/*.sql (and a migration if needed), then run sqlc generate</a:t>
            </a:r>
          </a:p>
        </p:txBody>
      </p:sp>
      <p:sp>
        <p:nvSpPr>
          <p:cNvPr id="100222" name="TextBox 7"/>
          <p:cNvSpPr/>
          <p:nvPr/>
        </p:nvSpPr>
        <p:spPr>
          <a:xfrm xmlns:a="http://schemas.openxmlformats.org/drawingml/2006/main">
            <a:off x="977900" y="2514600"/>
            <a:ext cx="25400" cy="25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E0E0"/>
          </a:solidFill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/>
            <a:endParaRPr lang="en-US" sz="1600" b="0">
              <a:solidFill>
                <a:srgbClr val="161616"/>
              </a:solidFill>
              <a:latin typeface="IBM Plex Sans"/>
              <a:ea typeface="IBM Plex Sans"/>
            </a:endParaRPr>
          </a:p>
        </p:txBody>
      </p:sp>
      <p:sp>
        <p:nvSpPr>
          <p:cNvPr id="100223" name="TextBox 8"/>
          <p:cNvSpPr/>
          <p:nvPr/>
        </p:nvSpPr>
        <p:spPr>
          <a:xfrm xmlns:a="http://schemas.openxmlformats.org/drawingml/2006/main">
            <a:off x="762000" y="20574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62FE"/>
          </a:solidFill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/>
            <a:r>
              <a:rPr lang="en-US" sz="1600" b="1">
                <a:solidFill>
                  <a:srgbClr val="FFFFFF"/>
                </a:solidFill>
                <a:latin typeface="IBM Plex Sans"/>
                <a:ea typeface="IBM Plex Sans"/>
              </a:rPr>
              <a:t>2</a:t>
            </a:r>
          </a:p>
        </p:txBody>
      </p:sp>
      <p:sp>
        <p:nvSpPr>
          <p:cNvPr id="100224" name="TextBox 9"/>
          <p:cNvSpPr/>
          <p:nvPr/>
        </p:nvSpPr>
        <p:spPr>
          <a:xfrm xmlns:a="http://schemas.openxmlformats.org/drawingml/2006/main">
            <a:off x="1422400" y="2146300"/>
            <a:ext cx="139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/>
            <a:r>
              <a:rPr lang="en-US" sz="1600" b="1">
                <a:solidFill>
                  <a:srgbClr val="161616"/>
                </a:solidFill>
                <a:latin typeface="IBM Plex Sans"/>
                <a:ea typeface="IBM Plex Sans"/>
              </a:rPr>
              <a:t>Model</a:t>
            </a:r>
          </a:p>
        </p:txBody>
      </p:sp>
      <p:sp>
        <p:nvSpPr>
          <p:cNvPr id="100225" name="TextBox 10"/>
          <p:cNvSpPr/>
          <p:nvPr/>
        </p:nvSpPr>
        <p:spPr>
          <a:xfrm xmlns:a="http://schemas.openxmlformats.org/drawingml/2006/main">
            <a:off x="2921000" y="2159000"/>
            <a:ext cx="8509000" cy="50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/>
            <a:r>
              <a:rPr lang="en-US" sz="1400" b="0">
                <a:solidFill>
                  <a:srgbClr val="525252"/>
                </a:solidFill>
                <a:latin typeface="IBM Plex Sans"/>
                <a:ea typeface="IBM Plex Sans"/>
              </a:rPr>
              <a:t>Add domain types or AppError cases in internal/model/</a:t>
            </a:r>
          </a:p>
        </p:txBody>
      </p:sp>
      <p:sp>
        <p:nvSpPr>
          <p:cNvPr id="100226" name="TextBox 11"/>
          <p:cNvSpPr/>
          <p:nvPr/>
        </p:nvSpPr>
        <p:spPr>
          <a:xfrm xmlns:a="http://schemas.openxmlformats.org/drawingml/2006/main">
            <a:off x="977900" y="3225800"/>
            <a:ext cx="25400" cy="25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E0E0"/>
          </a:solidFill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/>
            <a:endParaRPr lang="en-US" sz="1600" b="0">
              <a:solidFill>
                <a:srgbClr val="161616"/>
              </a:solidFill>
              <a:latin typeface="IBM Plex Sans"/>
              <a:ea typeface="IBM Plex Sans"/>
            </a:endParaRPr>
          </a:p>
        </p:txBody>
      </p:sp>
      <p:sp>
        <p:nvSpPr>
          <p:cNvPr id="100227" name="TextBox 12"/>
          <p:cNvSpPr/>
          <p:nvPr/>
        </p:nvSpPr>
        <p:spPr>
          <a:xfrm xmlns:a="http://schemas.openxmlformats.org/drawingml/2006/main">
            <a:off x="762000" y="27686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62FE"/>
          </a:solidFill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/>
            <a:r>
              <a:rPr lang="en-US" sz="1600" b="1">
                <a:solidFill>
                  <a:srgbClr val="FFFFFF"/>
                </a:solidFill>
                <a:latin typeface="IBM Plex Sans"/>
                <a:ea typeface="IBM Plex Sans"/>
              </a:rPr>
              <a:t>3</a:t>
            </a:r>
          </a:p>
        </p:txBody>
      </p:sp>
      <p:sp>
        <p:nvSpPr>
          <p:cNvPr id="100228" name="TextBox 13"/>
          <p:cNvSpPr/>
          <p:nvPr/>
        </p:nvSpPr>
        <p:spPr>
          <a:xfrm xmlns:a="http://schemas.openxmlformats.org/drawingml/2006/main">
            <a:off x="1422400" y="2857500"/>
            <a:ext cx="139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/>
            <a:r>
              <a:rPr lang="en-US" sz="1600" b="1">
                <a:solidFill>
                  <a:srgbClr val="161616"/>
                </a:solidFill>
                <a:latin typeface="IBM Plex Sans"/>
                <a:ea typeface="IBM Plex Sans"/>
              </a:rPr>
              <a:t>Service</a:t>
            </a:r>
          </a:p>
        </p:txBody>
      </p:sp>
      <p:sp>
        <p:nvSpPr>
          <p:cNvPr id="100229" name="TextBox 14"/>
          <p:cNvSpPr/>
          <p:nvPr/>
        </p:nvSpPr>
        <p:spPr>
          <a:xfrm xmlns:a="http://schemas.openxmlformats.org/drawingml/2006/main">
            <a:off x="2921000" y="2870200"/>
            <a:ext cx="8509000" cy="50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/>
            <a:r>
              <a:rPr lang="en-US" sz="1400" b="0">
                <a:solidFill>
                  <a:srgbClr val="525252"/>
                </a:solidFill>
                <a:latin typeface="IBM Plex Sans"/>
                <a:ea typeface="IBM Plex Sans"/>
              </a:rPr>
              <a:t>Add logic to XxxService; return *model.AppError for domain errors</a:t>
            </a:r>
          </a:p>
        </p:txBody>
      </p:sp>
      <p:sp>
        <p:nvSpPr>
          <p:cNvPr id="100230" name="TextBox 15"/>
          <p:cNvSpPr/>
          <p:nvPr/>
        </p:nvSpPr>
        <p:spPr>
          <a:xfrm xmlns:a="http://schemas.openxmlformats.org/drawingml/2006/main">
            <a:off x="977900" y="3937000"/>
            <a:ext cx="25400" cy="25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E0E0"/>
          </a:solidFill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/>
            <a:endParaRPr lang="en-US" sz="1600" b="0">
              <a:solidFill>
                <a:srgbClr val="161616"/>
              </a:solidFill>
              <a:latin typeface="IBM Plex Sans"/>
              <a:ea typeface="IBM Plex Sans"/>
            </a:endParaRPr>
          </a:p>
        </p:txBody>
      </p:sp>
      <p:sp>
        <p:nvSpPr>
          <p:cNvPr id="100231" name="TextBox 16"/>
          <p:cNvSpPr/>
          <p:nvPr/>
        </p:nvSpPr>
        <p:spPr>
          <a:xfrm xmlns:a="http://schemas.openxmlformats.org/drawingml/2006/main">
            <a:off x="762000" y="34798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62FE"/>
          </a:solidFill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/>
            <a:r>
              <a:rPr lang="en-US" sz="1600" b="1">
                <a:solidFill>
                  <a:srgbClr val="FFFFFF"/>
                </a:solidFill>
                <a:latin typeface="IBM Plex Sans"/>
                <a:ea typeface="IBM Plex Sans"/>
              </a:rPr>
              <a:t>4</a:t>
            </a:r>
          </a:p>
        </p:txBody>
      </p:sp>
      <p:sp>
        <p:nvSpPr>
          <p:cNvPr id="100232" name="TextBox 17"/>
          <p:cNvSpPr/>
          <p:nvPr/>
        </p:nvSpPr>
        <p:spPr>
          <a:xfrm xmlns:a="http://schemas.openxmlformats.org/drawingml/2006/main">
            <a:off x="1422400" y="3568700"/>
            <a:ext cx="139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/>
            <a:r>
              <a:rPr lang="en-US" sz="1600" b="1">
                <a:solidFill>
                  <a:srgbClr val="161616"/>
                </a:solidFill>
                <a:latin typeface="IBM Plex Sans"/>
                <a:ea typeface="IBM Plex Sans"/>
              </a:rPr>
              <a:t>Handler</a:t>
            </a:r>
          </a:p>
        </p:txBody>
      </p:sp>
      <p:sp>
        <p:nvSpPr>
          <p:cNvPr id="100233" name="TextBox 18"/>
          <p:cNvSpPr/>
          <p:nvPr/>
        </p:nvSpPr>
        <p:spPr>
          <a:xfrm xmlns:a="http://schemas.openxmlformats.org/drawingml/2006/main">
            <a:off x="2921000" y="3581400"/>
            <a:ext cx="8509000" cy="50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/>
            <a:r>
              <a:rPr lang="en-US" sz="1400" b="0">
                <a:solidFill>
                  <a:srgbClr val="525252"/>
                </a:solidFill>
                <a:latin typeface="IBM Plex Sans"/>
                <a:ea typeface="IBM Plex Sans"/>
              </a:rPr>
              <a:t>Add an XxxHandler method: readJSON → service → writeJSON / writeError</a:t>
            </a:r>
          </a:p>
        </p:txBody>
      </p:sp>
      <p:sp>
        <p:nvSpPr>
          <p:cNvPr id="100234" name="TextBox 19"/>
          <p:cNvSpPr/>
          <p:nvPr/>
        </p:nvSpPr>
        <p:spPr>
          <a:xfrm xmlns:a="http://schemas.openxmlformats.org/drawingml/2006/main">
            <a:off x="977900" y="4648200"/>
            <a:ext cx="25400" cy="25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E0E0"/>
          </a:solidFill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/>
            <a:endParaRPr lang="en-US" sz="1600" b="0">
              <a:solidFill>
                <a:srgbClr val="161616"/>
              </a:solidFill>
              <a:latin typeface="IBM Plex Sans"/>
              <a:ea typeface="IBM Plex Sans"/>
            </a:endParaRPr>
          </a:p>
        </p:txBody>
      </p:sp>
      <p:sp>
        <p:nvSpPr>
          <p:cNvPr id="100235" name="TextBox 20"/>
          <p:cNvSpPr/>
          <p:nvPr/>
        </p:nvSpPr>
        <p:spPr>
          <a:xfrm xmlns:a="http://schemas.openxmlformats.org/drawingml/2006/main">
            <a:off x="762000" y="41910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62FE"/>
          </a:solidFill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/>
            <a:r>
              <a:rPr lang="en-US" sz="1600" b="1">
                <a:solidFill>
                  <a:srgbClr val="FFFFFF"/>
                </a:solidFill>
                <a:latin typeface="IBM Plex Sans"/>
                <a:ea typeface="IBM Plex Sans"/>
              </a:rPr>
              <a:t>5</a:t>
            </a:r>
          </a:p>
        </p:txBody>
      </p:sp>
      <p:sp>
        <p:nvSpPr>
          <p:cNvPr id="100236" name="TextBox 21"/>
          <p:cNvSpPr/>
          <p:nvPr/>
        </p:nvSpPr>
        <p:spPr>
          <a:xfrm xmlns:a="http://schemas.openxmlformats.org/drawingml/2006/main">
            <a:off x="1422400" y="4279900"/>
            <a:ext cx="139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/>
            <a:r>
              <a:rPr lang="en-US" sz="1600" b="1">
                <a:solidFill>
                  <a:srgbClr val="161616"/>
                </a:solidFill>
                <a:latin typeface="IBM Plex Sans"/>
                <a:ea typeface="IBM Plex Sans"/>
              </a:rPr>
              <a:t>Route</a:t>
            </a:r>
          </a:p>
        </p:txBody>
      </p:sp>
      <p:sp>
        <p:nvSpPr>
          <p:cNvPr id="100237" name="TextBox 22"/>
          <p:cNvSpPr/>
          <p:nvPr/>
        </p:nvSpPr>
        <p:spPr>
          <a:xfrm xmlns:a="http://schemas.openxmlformats.org/drawingml/2006/main">
            <a:off x="2921000" y="4292600"/>
            <a:ext cx="8509000" cy="50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/>
            <a:r>
              <a:rPr lang="en-US" sz="1400" b="0">
                <a:solidFill>
                  <a:srgbClr val="525252"/>
                </a:solidFill>
                <a:latin typeface="IBM Plex Sans"/>
                <a:ea typeface="IBM Plex Sans"/>
              </a:rPr>
              <a:t>Register it in cmd/server/main.go behind RequireRole / RequireBuildAccess</a:t>
            </a:r>
          </a:p>
        </p:txBody>
      </p:sp>
      <p:sp>
        <p:nvSpPr>
          <p:cNvPr id="100238" name="TextBox 23"/>
          <p:cNvSpPr/>
          <p:nvPr/>
        </p:nvSpPr>
        <p:spPr>
          <a:xfrm xmlns:a="http://schemas.openxmlformats.org/drawingml/2006/main">
            <a:off x="762000" y="49022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62FE"/>
          </a:solidFill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/>
            <a:r>
              <a:rPr lang="en-US" sz="1600" b="1">
                <a:solidFill>
                  <a:srgbClr val="FFFFFF"/>
                </a:solidFill>
                <a:latin typeface="IBM Plex Sans"/>
                <a:ea typeface="IBM Plex Sans"/>
              </a:rPr>
              <a:t>6</a:t>
            </a:r>
          </a:p>
        </p:txBody>
      </p:sp>
      <p:sp>
        <p:nvSpPr>
          <p:cNvPr id="100239" name="TextBox 24"/>
          <p:cNvSpPr/>
          <p:nvPr/>
        </p:nvSpPr>
        <p:spPr>
          <a:xfrm xmlns:a="http://schemas.openxmlformats.org/drawingml/2006/main">
            <a:off x="1422400" y="4991100"/>
            <a:ext cx="139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/>
            <a:r>
              <a:rPr lang="en-US" sz="1600" b="1">
                <a:solidFill>
                  <a:srgbClr val="161616"/>
                </a:solidFill>
                <a:latin typeface="IBM Plex Sans"/>
                <a:ea typeface="IBM Plex Sans"/>
              </a:rPr>
              <a:t>Verify</a:t>
            </a:r>
          </a:p>
        </p:txBody>
      </p:sp>
      <p:sp>
        <p:nvSpPr>
          <p:cNvPr id="100240" name="TextBox 25"/>
          <p:cNvSpPr/>
          <p:nvPr/>
        </p:nvSpPr>
        <p:spPr>
          <a:xfrm xmlns:a="http://schemas.openxmlformats.org/drawingml/2006/main">
            <a:off x="2921000" y="5003800"/>
            <a:ext cx="8509000" cy="50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/>
            <a:r>
              <a:rPr lang="en-US" sz="1400" b="0">
                <a:solidFill>
                  <a:srgbClr val="525252"/>
                </a:solidFill>
                <a:latin typeface="IBM Plex Sans"/>
                <a:ea typeface="IBM Plex Sans"/>
              </a:rPr>
              <a:t>Add table-driven tests, update docs/api-reference.md, run go vet and go test</a:t>
            </a:r>
          </a:p>
        </p:txBody>
      </p:sp>
      <p:sp>
        <p:nvSpPr>
          <p:cNvPr id="100241" name="TextBox 26"/>
          <p:cNvSpPr/>
          <p:nvPr/>
        </p:nvSpPr>
        <p:spPr>
          <a:xfrm xmlns:a="http://schemas.openxmlformats.org/drawingml/2006/main">
            <a:off x="762000" y="6324600"/>
            <a:ext cx="5080000" cy="17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/>
            <a:r>
              <a:rPr lang="en-US" sz="1000" b="0">
                <a:solidFill>
                  <a:srgbClr val="525252"/>
                </a:solidFill>
                <a:latin typeface="IBM Plex Sans"/>
                <a:ea typeface="IBM Plex Sans"/>
              </a:rPr>
              <a:t>Contract Manager · Intern Onboarding</a:t>
            </a:r>
          </a:p>
        </p:txBody>
      </p:sp>
      <p:sp>
        <p:nvSpPr>
          <p:cNvPr id="100242" name="TextBox 27"/>
          <p:cNvSpPr/>
          <p:nvPr/>
        </p:nvSpPr>
        <p:spPr>
          <a:xfrm xmlns:a="http://schemas.openxmlformats.org/drawingml/2006/main">
            <a:off x="10922000" y="6324600"/>
            <a:ext cx="508000" cy="17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/>
            <a:r>
              <a:rPr lang="en-US" sz="1000" b="0">
                <a:solidFill>
                  <a:srgbClr val="525252"/>
                </a:solidFill>
                <a:latin typeface="IBM Plex Sans"/>
                <a:ea typeface="IBM Plex Sans"/>
              </a:rPr>
              <a:t>13</a:t>
            </a:r>
          </a:p>
        </p:txBody>
      </p:sp>
    </p:spTree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4F4F4"/>
        </a:solidFill>
      </p:bgPr>
    </p:bg>
    <p:spTree>
      <p:nvGrpSpPr>
        <p:cNvPr id="1" name=""/>
        <p:cNvGrpSpPr/>
        <p:nvPr/>
      </p:nvGrpSpPr>
      <p:grpSpPr/>
      <p:sp>
        <p:nvSpPr>
          <p:cNvPr id="100243" name="TextBox 1"/>
          <p:cNvSpPr/>
          <p:nvPr/>
        </p:nvSpPr>
        <p:spPr>
          <a:xfrm xmlns:a="http://schemas.openxmlformats.org/drawingml/2006/main">
            <a:off x="762000" y="571500"/>
            <a:ext cx="10668000" cy="20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/>
            <a:r>
              <a:rPr lang="en-US" sz="1100" b="1">
                <a:solidFill>
                  <a:srgbClr val="0F62FE"/>
                </a:solidFill>
                <a:latin typeface="IBM Plex Sans"/>
                <a:ea typeface="IBM Plex Sans"/>
              </a:rPr>
              <a:t>FROM ISSUE TO MERGE</a:t>
            </a:r>
          </a:p>
        </p:txBody>
      </p:sp>
      <p:sp>
        <p:nvSpPr>
          <p:cNvPr id="100244" name="TextBox 2"/>
          <p:cNvSpPr/>
          <p:nvPr/>
        </p:nvSpPr>
        <p:spPr>
          <a:xfrm xmlns:a="http://schemas.openxmlformats.org/drawingml/2006/main">
            <a:off x="762000" y="800100"/>
            <a:ext cx="10668000" cy="431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/>
            <a:r>
              <a:rPr lang="en-US" sz="2400" b="1">
                <a:solidFill>
                  <a:srgbClr val="161616"/>
                </a:solidFill>
                <a:latin typeface="IBM Plex Sans"/>
                <a:ea typeface="IBM Plex Sans"/>
              </a:rPr>
              <a:t>Contribution workflow</a:t>
            </a:r>
          </a:p>
        </p:txBody>
      </p:sp>
      <p:sp>
        <p:nvSpPr>
          <p:cNvPr id="100245" name="TextBox 3"/>
          <p:cNvSpPr/>
          <p:nvPr/>
        </p:nvSpPr>
        <p:spPr>
          <a:xfrm xmlns:a="http://schemas.openxmlformats.org/drawingml/2006/main">
            <a:off x="1003300" y="1879600"/>
            <a:ext cx="8534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62FE"/>
          </a:solidFill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/>
            <a:endParaRPr lang="en-US" sz="1600" b="0">
              <a:solidFill>
                <a:srgbClr val="161616"/>
              </a:solidFill>
              <a:latin typeface="IBM Plex Sans"/>
              <a:ea typeface="IBM Plex Sans"/>
            </a:endParaRPr>
          </a:p>
        </p:txBody>
      </p:sp>
      <p:sp>
        <p:nvSpPr>
          <p:cNvPr id="100246" name="TextBox 4"/>
          <p:cNvSpPr/>
          <p:nvPr/>
        </p:nvSpPr>
        <p:spPr>
          <a:xfrm xmlns:a="http://schemas.openxmlformats.org/drawingml/2006/main">
            <a:off x="863600" y="1752600"/>
            <a:ext cx="279400" cy="279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62FE"/>
          </a:solidFill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/>
            <a:endParaRPr lang="en-US" sz="1600" b="0">
              <a:solidFill>
                <a:srgbClr val="161616"/>
              </a:solidFill>
              <a:latin typeface="IBM Plex Sans"/>
              <a:ea typeface="IBM Plex Sans"/>
            </a:endParaRPr>
          </a:p>
        </p:txBody>
      </p:sp>
      <p:sp>
        <p:nvSpPr>
          <p:cNvPr id="100247" name="TextBox 5"/>
          <p:cNvSpPr/>
          <p:nvPr/>
        </p:nvSpPr>
        <p:spPr>
          <a:xfrm xmlns:a="http://schemas.openxmlformats.org/drawingml/2006/main">
            <a:off x="762000" y="2260600"/>
            <a:ext cx="1955800" cy="33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/>
            <a:r>
              <a:rPr lang="en-US" sz="1800" b="1">
                <a:solidFill>
                  <a:srgbClr val="161616"/>
                </a:solidFill>
                <a:latin typeface="IBM Plex Sans"/>
                <a:ea typeface="IBM Plex Sans"/>
              </a:rPr>
              <a:t>Issue</a:t>
            </a:r>
          </a:p>
        </p:txBody>
      </p:sp>
      <p:sp>
        <p:nvSpPr>
          <p:cNvPr id="100248" name="TextBox 6"/>
          <p:cNvSpPr/>
          <p:nvPr/>
        </p:nvSpPr>
        <p:spPr>
          <a:xfrm xmlns:a="http://schemas.openxmlformats.org/drawingml/2006/main">
            <a:off x="762000" y="2667000"/>
            <a:ext cx="19050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</a:pPr>
            <a:r>
              <a:rPr lang="en-US" sz="1300" b="0">
                <a:solidFill>
                  <a:srgbClr val="525252"/>
                </a:solidFill>
                <a:latin typeface="IBM Plex Sans"/>
                <a:ea typeface="IBM Plex Sans"/>
              </a:rPr>
              <a:t>Open or pick an issue and agree on the approach first</a:t>
            </a:r>
          </a:p>
        </p:txBody>
      </p:sp>
      <p:sp>
        <p:nvSpPr>
          <p:cNvPr id="100249" name="TextBox 7"/>
          <p:cNvSpPr/>
          <p:nvPr/>
        </p:nvSpPr>
        <p:spPr>
          <a:xfrm xmlns:a="http://schemas.openxmlformats.org/drawingml/2006/main">
            <a:off x="2997200" y="1752600"/>
            <a:ext cx="279400" cy="279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62FE"/>
          </a:solidFill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/>
            <a:endParaRPr lang="en-US" sz="1600" b="0">
              <a:solidFill>
                <a:srgbClr val="161616"/>
              </a:solidFill>
              <a:latin typeface="IBM Plex Sans"/>
              <a:ea typeface="IBM Plex Sans"/>
            </a:endParaRPr>
          </a:p>
        </p:txBody>
      </p:sp>
      <p:sp>
        <p:nvSpPr>
          <p:cNvPr id="100250" name="TextBox 8"/>
          <p:cNvSpPr/>
          <p:nvPr/>
        </p:nvSpPr>
        <p:spPr>
          <a:xfrm xmlns:a="http://schemas.openxmlformats.org/drawingml/2006/main">
            <a:off x="2895600" y="2260600"/>
            <a:ext cx="1955800" cy="33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/>
            <a:r>
              <a:rPr lang="en-US" sz="1800" b="1">
                <a:solidFill>
                  <a:srgbClr val="161616"/>
                </a:solidFill>
                <a:latin typeface="IBM Plex Sans"/>
                <a:ea typeface="IBM Plex Sans"/>
              </a:rPr>
              <a:t>Branch</a:t>
            </a:r>
          </a:p>
        </p:txBody>
      </p:sp>
      <p:sp>
        <p:nvSpPr>
          <p:cNvPr id="100251" name="TextBox 9"/>
          <p:cNvSpPr/>
          <p:nvPr/>
        </p:nvSpPr>
        <p:spPr>
          <a:xfrm xmlns:a="http://schemas.openxmlformats.org/drawingml/2006/main">
            <a:off x="2895600" y="2667000"/>
            <a:ext cx="19050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</a:pPr>
            <a:r>
              <a:rPr lang="en-US" sz="1300" b="0">
                <a:solidFill>
                  <a:srgbClr val="525252"/>
                </a:solidFill>
                <a:latin typeface="IBM Plex Sans"/>
                <a:ea typeface="IBM Plex Sans"/>
              </a:rPr>
              <a:t>&lt;Type&gt;/&lt;name&gt;</a:t>
            </a:r>
          </a:p>
          <a:p xmlns:a="http://schemas.openxmlformats.org/drawingml/2006/main">
            <a:pPr algn="l">
              <a:lnSpc>
                <a:spcPct val="120000"/>
              </a:lnSpc>
            </a:pPr>
            <a:r>
              <a:rPr lang="en-US" sz="1300" b="0">
                <a:solidFill>
                  <a:srgbClr val="525252"/>
                </a:solidFill>
                <a:latin typeface="IBM Plex Sans"/>
                <a:ea typeface="IBM Plex Sans"/>
              </a:rPr>
              <a:t>e.g. Feature/add-encryption, Fix/null-pointer</a:t>
            </a:r>
          </a:p>
        </p:txBody>
      </p:sp>
      <p:sp>
        <p:nvSpPr>
          <p:cNvPr id="100252" name="TextBox 10"/>
          <p:cNvSpPr/>
          <p:nvPr/>
        </p:nvSpPr>
        <p:spPr>
          <a:xfrm xmlns:a="http://schemas.openxmlformats.org/drawingml/2006/main">
            <a:off x="5130800" y="1752600"/>
            <a:ext cx="279400" cy="279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62FE"/>
          </a:solidFill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/>
            <a:endParaRPr lang="en-US" sz="1600" b="0">
              <a:solidFill>
                <a:srgbClr val="161616"/>
              </a:solidFill>
              <a:latin typeface="IBM Plex Sans"/>
              <a:ea typeface="IBM Plex Sans"/>
            </a:endParaRPr>
          </a:p>
        </p:txBody>
      </p:sp>
      <p:sp>
        <p:nvSpPr>
          <p:cNvPr id="100253" name="TextBox 11"/>
          <p:cNvSpPr/>
          <p:nvPr/>
        </p:nvSpPr>
        <p:spPr>
          <a:xfrm xmlns:a="http://schemas.openxmlformats.org/drawingml/2006/main">
            <a:off x="5029200" y="2260600"/>
            <a:ext cx="1955800" cy="33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/>
            <a:r>
              <a:rPr lang="en-US" sz="1800" b="1">
                <a:solidFill>
                  <a:srgbClr val="161616"/>
                </a:solidFill>
                <a:latin typeface="IBM Plex Sans"/>
                <a:ea typeface="IBM Plex Sans"/>
              </a:rPr>
              <a:t>Commit</a:t>
            </a:r>
          </a:p>
        </p:txBody>
      </p:sp>
      <p:sp>
        <p:nvSpPr>
          <p:cNvPr id="100254" name="TextBox 12"/>
          <p:cNvSpPr/>
          <p:nvPr/>
        </p:nvSpPr>
        <p:spPr>
          <a:xfrm xmlns:a="http://schemas.openxmlformats.org/drawingml/2006/main">
            <a:off x="5029200" y="2667000"/>
            <a:ext cx="19050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</a:pPr>
            <a:r>
              <a:rPr lang="en-US" sz="1300" b="0">
                <a:solidFill>
                  <a:srgbClr val="525252"/>
                </a:solidFill>
                <a:latin typeface="IBM Plex Sans"/>
                <a:ea typeface="IBM Plex Sans"/>
              </a:rPr>
              <a:t>Conventional Commits:</a:t>
            </a:r>
          </a:p>
          <a:p xmlns:a="http://schemas.openxmlformats.org/drawingml/2006/main">
            <a:pPr algn="l">
              <a:lnSpc>
                <a:spcPct val="120000"/>
              </a:lnSpc>
            </a:pPr>
            <a:r>
              <a:rPr lang="en-US" sz="1300" b="0">
                <a:solidFill>
                  <a:srgbClr val="525252"/>
                </a:solidFill>
                <a:latin typeface="IBM Plex Sans"/>
                <a:ea typeface="IBM Plex Sans"/>
              </a:rPr>
              <a:t>feat: fix: docs: test: chore: refactor: ci:</a:t>
            </a:r>
          </a:p>
        </p:txBody>
      </p:sp>
      <p:sp>
        <p:nvSpPr>
          <p:cNvPr id="100255" name="TextBox 13"/>
          <p:cNvSpPr/>
          <p:nvPr/>
        </p:nvSpPr>
        <p:spPr>
          <a:xfrm xmlns:a="http://schemas.openxmlformats.org/drawingml/2006/main">
            <a:off x="7264400" y="1752600"/>
            <a:ext cx="279400" cy="279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62FE"/>
          </a:solidFill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/>
            <a:endParaRPr lang="en-US" sz="1600" b="0">
              <a:solidFill>
                <a:srgbClr val="161616"/>
              </a:solidFill>
              <a:latin typeface="IBM Plex Sans"/>
              <a:ea typeface="IBM Plex Sans"/>
            </a:endParaRPr>
          </a:p>
        </p:txBody>
      </p:sp>
      <p:sp>
        <p:nvSpPr>
          <p:cNvPr id="100256" name="TextBox 14"/>
          <p:cNvSpPr/>
          <p:nvPr/>
        </p:nvSpPr>
        <p:spPr>
          <a:xfrm xmlns:a="http://schemas.openxmlformats.org/drawingml/2006/main">
            <a:off x="7162800" y="2260600"/>
            <a:ext cx="1955800" cy="33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/>
            <a:r>
              <a:rPr lang="en-US" sz="1800" b="1">
                <a:solidFill>
                  <a:srgbClr val="161616"/>
                </a:solidFill>
                <a:latin typeface="IBM Plex Sans"/>
                <a:ea typeface="IBM Plex Sans"/>
              </a:rPr>
              <a:t>Sign</a:t>
            </a:r>
          </a:p>
        </p:txBody>
      </p:sp>
      <p:sp>
        <p:nvSpPr>
          <p:cNvPr id="100257" name="TextBox 15"/>
          <p:cNvSpPr/>
          <p:nvPr/>
        </p:nvSpPr>
        <p:spPr>
          <a:xfrm xmlns:a="http://schemas.openxmlformats.org/drawingml/2006/main">
            <a:off x="7162800" y="2667000"/>
            <a:ext cx="19050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</a:pPr>
            <a:r>
              <a:rPr lang="en-US" sz="1300" b="0">
                <a:solidFill>
                  <a:srgbClr val="525252"/>
                </a:solidFill>
                <a:latin typeface="IBM Plex Sans"/>
                <a:ea typeface="IBM Plex Sans"/>
              </a:rPr>
              <a:t>Every commit must be signed with GPG or SSH</a:t>
            </a:r>
          </a:p>
        </p:txBody>
      </p:sp>
      <p:sp>
        <p:nvSpPr>
          <p:cNvPr id="100258" name="TextBox 16"/>
          <p:cNvSpPr/>
          <p:nvPr/>
        </p:nvSpPr>
        <p:spPr>
          <a:xfrm xmlns:a="http://schemas.openxmlformats.org/drawingml/2006/main">
            <a:off x="9398000" y="1752600"/>
            <a:ext cx="279400" cy="279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62FE"/>
          </a:solidFill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/>
            <a:endParaRPr lang="en-US" sz="1600" b="0">
              <a:solidFill>
                <a:srgbClr val="161616"/>
              </a:solidFill>
              <a:latin typeface="IBM Plex Sans"/>
              <a:ea typeface="IBM Plex Sans"/>
            </a:endParaRPr>
          </a:p>
        </p:txBody>
      </p:sp>
      <p:sp>
        <p:nvSpPr>
          <p:cNvPr id="100259" name="TextBox 17"/>
          <p:cNvSpPr/>
          <p:nvPr/>
        </p:nvSpPr>
        <p:spPr>
          <a:xfrm xmlns:a="http://schemas.openxmlformats.org/drawingml/2006/main">
            <a:off x="9296400" y="2260600"/>
            <a:ext cx="1955800" cy="33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/>
            <a:r>
              <a:rPr lang="en-US" sz="1800" b="1">
                <a:solidFill>
                  <a:srgbClr val="161616"/>
                </a:solidFill>
                <a:latin typeface="IBM Plex Sans"/>
                <a:ea typeface="IBM Plex Sans"/>
              </a:rPr>
              <a:t>PR</a:t>
            </a:r>
          </a:p>
        </p:txBody>
      </p:sp>
      <p:sp>
        <p:nvSpPr>
          <p:cNvPr id="100260" name="TextBox 18"/>
          <p:cNvSpPr/>
          <p:nvPr/>
        </p:nvSpPr>
        <p:spPr>
          <a:xfrm xmlns:a="http://schemas.openxmlformats.org/drawingml/2006/main">
            <a:off x="9296400" y="2667000"/>
            <a:ext cx="19050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</a:pPr>
            <a:r>
              <a:rPr lang="en-US" sz="1300" b="0">
                <a:solidFill>
                  <a:srgbClr val="525252"/>
                </a:solidFill>
                <a:latin typeface="IBM Plex Sans"/>
                <a:ea typeface="IBM Plex Sans"/>
              </a:rPr>
              <a:t>Link the issue, pass CI, respond to review</a:t>
            </a:r>
          </a:p>
        </p:txBody>
      </p:sp>
      <p:sp>
        <p:nvSpPr>
          <p:cNvPr id="100261" name="TextBox 19"/>
          <p:cNvSpPr/>
          <p:nvPr/>
        </p:nvSpPr>
        <p:spPr>
          <a:xfrm xmlns:a="http://schemas.openxmlformats.org/drawingml/2006/main">
            <a:off x="762000" y="5016500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/>
            <a:r>
              <a:rPr lang="en-US" sz="1400" b="0">
                <a:solidFill>
                  <a:srgbClr val="161616"/>
                </a:solidFill>
                <a:latin typeface="IBM Plex Mono"/>
                <a:ea typeface="IBM Plex Mono"/>
              </a:rPr>
              <a:t>Before you push:   gofmt -w .   ·   go vet ./...   ·   go test ./...</a:t>
            </a:r>
          </a:p>
        </p:txBody>
      </p:sp>
      <p:sp>
        <p:nvSpPr>
          <p:cNvPr id="100262" name="TextBox 20"/>
          <p:cNvSpPr/>
          <p:nvPr/>
        </p:nvSpPr>
        <p:spPr>
          <a:xfrm xmlns:a="http://schemas.openxmlformats.org/drawingml/2006/main">
            <a:off x="762000" y="6324600"/>
            <a:ext cx="5080000" cy="17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/>
            <a:r>
              <a:rPr lang="en-US" sz="1000" b="0">
                <a:solidFill>
                  <a:srgbClr val="525252"/>
                </a:solidFill>
                <a:latin typeface="IBM Plex Sans"/>
                <a:ea typeface="IBM Plex Sans"/>
              </a:rPr>
              <a:t>Contract Manager · Intern Onboarding</a:t>
            </a:r>
          </a:p>
        </p:txBody>
      </p:sp>
      <p:sp>
        <p:nvSpPr>
          <p:cNvPr id="100263" name="TextBox 21"/>
          <p:cNvSpPr/>
          <p:nvPr/>
        </p:nvSpPr>
        <p:spPr>
          <a:xfrm xmlns:a="http://schemas.openxmlformats.org/drawingml/2006/main">
            <a:off x="10922000" y="6324600"/>
            <a:ext cx="508000" cy="17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/>
            <a:r>
              <a:rPr lang="en-US" sz="1000" b="0">
                <a:solidFill>
                  <a:srgbClr val="525252"/>
                </a:solidFill>
                <a:latin typeface="IBM Plex Sans"/>
                <a:ea typeface="IBM Plex Sans"/>
              </a:rPr>
              <a:t>14</a:t>
            </a:r>
          </a:p>
        </p:txBody>
      </p:sp>
    </p:spTree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100264" name="TextBox 1"/>
          <p:cNvSpPr/>
          <p:nvPr/>
        </p:nvSpPr>
        <p:spPr>
          <a:xfrm xmlns:a="http://schemas.openxmlformats.org/drawingml/2006/main">
            <a:off x="762000" y="571500"/>
            <a:ext cx="10668000" cy="20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/>
            <a:r>
              <a:rPr lang="en-US" sz="1100" b="1">
                <a:solidFill>
                  <a:srgbClr val="0F62FE"/>
                </a:solidFill>
                <a:latin typeface="IBM Plex Sans"/>
                <a:ea typeface="IBM Plex Sans"/>
              </a:rPr>
              <a:t>WHERE YOU CAN HELP</a:t>
            </a:r>
          </a:p>
        </p:txBody>
      </p:sp>
      <p:sp>
        <p:nvSpPr>
          <p:cNvPr id="100265" name="TextBox 2"/>
          <p:cNvSpPr/>
          <p:nvPr/>
        </p:nvSpPr>
        <p:spPr>
          <a:xfrm xmlns:a="http://schemas.openxmlformats.org/drawingml/2006/main">
            <a:off x="762000" y="800100"/>
            <a:ext cx="10668000" cy="431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/>
            <a:r>
              <a:rPr lang="en-US" sz="2400" b="1">
                <a:solidFill>
                  <a:srgbClr val="161616"/>
                </a:solidFill>
                <a:latin typeface="IBM Plex Sans"/>
                <a:ea typeface="IBM Plex Sans"/>
              </a:rPr>
              <a:t>Good first tasks</a:t>
            </a:r>
          </a:p>
        </p:txBody>
      </p:sp>
      <p:sp>
        <p:nvSpPr>
          <p:cNvPr id="100266" name="TextBox 3"/>
          <p:cNvSpPr/>
          <p:nvPr/>
        </p:nvSpPr>
        <p:spPr>
          <a:xfrm xmlns:a="http://schemas.openxmlformats.org/drawingml/2006/main">
            <a:off x="762000" y="1371600"/>
            <a:ext cx="3386667" cy="184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4F4"/>
          </a:solidFill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/>
            <a:endParaRPr lang="en-US" sz="1600" b="0">
              <a:solidFill>
                <a:srgbClr val="161616"/>
              </a:solidFill>
              <a:latin typeface="IBM Plex Sans"/>
              <a:ea typeface="IBM Plex Sans"/>
            </a:endParaRPr>
          </a:p>
        </p:txBody>
      </p:sp>
      <p:sp>
        <p:nvSpPr>
          <p:cNvPr id="100267" name="TextBox 4"/>
          <p:cNvSpPr/>
          <p:nvPr/>
        </p:nvSpPr>
        <p:spPr>
          <a:xfrm xmlns:a="http://schemas.openxmlformats.org/drawingml/2006/main">
            <a:off x="762000" y="1371600"/>
            <a:ext cx="63500" cy="184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62FE"/>
          </a:solidFill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/>
            <a:endParaRPr lang="en-US" sz="1600" b="0">
              <a:solidFill>
                <a:srgbClr val="161616"/>
              </a:solidFill>
              <a:latin typeface="IBM Plex Sans"/>
              <a:ea typeface="IBM Plex Sans"/>
            </a:endParaRPr>
          </a:p>
        </p:txBody>
      </p:sp>
      <p:sp>
        <p:nvSpPr>
          <p:cNvPr id="100268" name="TextBox 5"/>
          <p:cNvSpPr/>
          <p:nvPr/>
        </p:nvSpPr>
        <p:spPr>
          <a:xfrm xmlns:a="http://schemas.openxmlformats.org/drawingml/2006/main">
            <a:off x="1016000" y="1574800"/>
            <a:ext cx="2929467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/>
            <a:r>
              <a:rPr lang="en-US" sz="1600" b="1">
                <a:solidFill>
                  <a:srgbClr val="0F62FE"/>
                </a:solidFill>
                <a:latin typeface="IBM Plex Sans"/>
                <a:ea typeface="IBM Plex Sans"/>
              </a:rPr>
              <a:t>Unit tests</a:t>
            </a:r>
          </a:p>
        </p:txBody>
      </p:sp>
      <p:sp>
        <p:nvSpPr>
          <p:cNvPr id="100269" name="TextBox 6"/>
          <p:cNvSpPr/>
          <p:nvPr/>
        </p:nvSpPr>
        <p:spPr>
          <a:xfrm xmlns:a="http://schemas.openxmlformats.org/drawingml/2006/main">
            <a:off x="1016000" y="2006600"/>
            <a:ext cx="2929467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</a:pPr>
            <a:r>
              <a:rPr lang="en-US" sz="1300" b="0">
                <a:solidFill>
                  <a:srgbClr val="525252"/>
                </a:solidFill>
                <a:latin typeface="IBM Plex Sans"/>
                <a:ea typeface="IBM Plex Sans"/>
              </a:rPr>
              <a:t>No *_test.go files yet. Start with BuildStatus transitions and internal/crypto/</a:t>
            </a:r>
          </a:p>
        </p:txBody>
      </p:sp>
      <p:sp>
        <p:nvSpPr>
          <p:cNvPr id="100270" name="TextBox 7"/>
          <p:cNvSpPr/>
          <p:nvPr/>
        </p:nvSpPr>
        <p:spPr>
          <a:xfrm xmlns:a="http://schemas.openxmlformats.org/drawingml/2006/main">
            <a:off x="4402667" y="1371600"/>
            <a:ext cx="3386667" cy="184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4F4"/>
          </a:solidFill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/>
            <a:endParaRPr lang="en-US" sz="1600" b="0">
              <a:solidFill>
                <a:srgbClr val="161616"/>
              </a:solidFill>
              <a:latin typeface="IBM Plex Sans"/>
              <a:ea typeface="IBM Plex Sans"/>
            </a:endParaRPr>
          </a:p>
        </p:txBody>
      </p:sp>
      <p:sp>
        <p:nvSpPr>
          <p:cNvPr id="100271" name="TextBox 8"/>
          <p:cNvSpPr/>
          <p:nvPr/>
        </p:nvSpPr>
        <p:spPr>
          <a:xfrm xmlns:a="http://schemas.openxmlformats.org/drawingml/2006/main">
            <a:off x="4402667" y="1371600"/>
            <a:ext cx="63500" cy="184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3FFC"/>
          </a:solidFill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/>
            <a:endParaRPr lang="en-US" sz="1600" b="0">
              <a:solidFill>
                <a:srgbClr val="161616"/>
              </a:solidFill>
              <a:latin typeface="IBM Plex Sans"/>
              <a:ea typeface="IBM Plex Sans"/>
            </a:endParaRPr>
          </a:p>
        </p:txBody>
      </p:sp>
      <p:sp>
        <p:nvSpPr>
          <p:cNvPr id="100272" name="TextBox 9"/>
          <p:cNvSpPr/>
          <p:nvPr/>
        </p:nvSpPr>
        <p:spPr>
          <a:xfrm xmlns:a="http://schemas.openxmlformats.org/drawingml/2006/main">
            <a:off x="4656667" y="1574800"/>
            <a:ext cx="2929467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/>
            <a:r>
              <a:rPr lang="en-US" sz="1600" b="1">
                <a:solidFill>
                  <a:srgbClr val="8A3FFC"/>
                </a:solidFill>
                <a:latin typeface="IBM Plex Sans"/>
                <a:ea typeface="IBM Plex Sans"/>
              </a:rPr>
              <a:t>Negative-path tests</a:t>
            </a:r>
          </a:p>
        </p:txBody>
      </p:sp>
      <p:sp>
        <p:nvSpPr>
          <p:cNvPr id="100273" name="TextBox 10"/>
          <p:cNvSpPr/>
          <p:nvPr/>
        </p:nvSpPr>
        <p:spPr>
          <a:xfrm xmlns:a="http://schemas.openxmlformats.org/drawingml/2006/main">
            <a:off x="4656667" y="2006600"/>
            <a:ext cx="2929467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</a:pPr>
            <a:r>
              <a:rPr lang="en-US" sz="1300" b="0">
                <a:solidFill>
                  <a:srgbClr val="525252"/>
                </a:solidFill>
                <a:latin typeface="IBM Plex Sans"/>
                <a:ea typeface="IBM Plex Sans"/>
              </a:rPr>
              <a:t>Signature, replay window and build-access edge cases in middleware/</a:t>
            </a:r>
          </a:p>
        </p:txBody>
      </p:sp>
      <p:sp>
        <p:nvSpPr>
          <p:cNvPr id="100274" name="TextBox 11"/>
          <p:cNvSpPr/>
          <p:nvPr/>
        </p:nvSpPr>
        <p:spPr>
          <a:xfrm xmlns:a="http://schemas.openxmlformats.org/drawingml/2006/main">
            <a:off x="8043333" y="1371600"/>
            <a:ext cx="3386667" cy="184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4F4"/>
          </a:solidFill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/>
            <a:endParaRPr lang="en-US" sz="1600" b="0">
              <a:solidFill>
                <a:srgbClr val="161616"/>
              </a:solidFill>
              <a:latin typeface="IBM Plex Sans"/>
              <a:ea typeface="IBM Plex Sans"/>
            </a:endParaRPr>
          </a:p>
        </p:txBody>
      </p:sp>
      <p:sp>
        <p:nvSpPr>
          <p:cNvPr id="100275" name="TextBox 12"/>
          <p:cNvSpPr/>
          <p:nvPr/>
        </p:nvSpPr>
        <p:spPr>
          <a:xfrm xmlns:a="http://schemas.openxmlformats.org/drawingml/2006/main">
            <a:off x="8043333" y="1371600"/>
            <a:ext cx="63500" cy="184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D9A"/>
          </a:solidFill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/>
            <a:endParaRPr lang="en-US" sz="1600" b="0">
              <a:solidFill>
                <a:srgbClr val="161616"/>
              </a:solidFill>
              <a:latin typeface="IBM Plex Sans"/>
              <a:ea typeface="IBM Plex Sans"/>
            </a:endParaRPr>
          </a:p>
        </p:txBody>
      </p:sp>
      <p:sp>
        <p:nvSpPr>
          <p:cNvPr id="100276" name="TextBox 13"/>
          <p:cNvSpPr/>
          <p:nvPr/>
        </p:nvSpPr>
        <p:spPr>
          <a:xfrm xmlns:a="http://schemas.openxmlformats.org/drawingml/2006/main">
            <a:off x="8297333" y="1574800"/>
            <a:ext cx="2929467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/>
            <a:r>
              <a:rPr lang="en-US" sz="1600" b="1">
                <a:solidFill>
                  <a:srgbClr val="009D9A"/>
                </a:solidFill>
                <a:latin typeface="IBM Plex Sans"/>
                <a:ea typeface="IBM Plex Sans"/>
              </a:rPr>
              <a:t>Key provider tests</a:t>
            </a:r>
          </a:p>
        </p:txBody>
      </p:sp>
      <p:sp>
        <p:nvSpPr>
          <p:cNvPr id="100277" name="TextBox 14"/>
          <p:cNvSpPr/>
          <p:nvPr/>
        </p:nvSpPr>
        <p:spPr>
          <a:xfrm xmlns:a="http://schemas.openxmlformats.org/drawingml/2006/main">
            <a:off x="8297333" y="2006600"/>
            <a:ext cx="2929467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</a:pPr>
            <a:r>
              <a:rPr lang="en-US" sz="1300" b="0">
                <a:solidFill>
                  <a:srgbClr val="525252"/>
                </a:solidFill>
                <a:latin typeface="IBM Plex Sans"/>
                <a:ea typeface="IBM Plex Sans"/>
              </a:rPr>
              <a:t>DB KeyProvider lifecycle and failure cases; keymgmt/mock as a reference</a:t>
            </a:r>
          </a:p>
        </p:txBody>
      </p:sp>
      <p:sp>
        <p:nvSpPr>
          <p:cNvPr id="100278" name="TextBox 15"/>
          <p:cNvSpPr/>
          <p:nvPr/>
        </p:nvSpPr>
        <p:spPr>
          <a:xfrm xmlns:a="http://schemas.openxmlformats.org/drawingml/2006/main">
            <a:off x="762000" y="3441700"/>
            <a:ext cx="3386667" cy="184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4F4"/>
          </a:solidFill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/>
            <a:endParaRPr lang="en-US" sz="1600" b="0">
              <a:solidFill>
                <a:srgbClr val="161616"/>
              </a:solidFill>
              <a:latin typeface="IBM Plex Sans"/>
              <a:ea typeface="IBM Plex Sans"/>
            </a:endParaRPr>
          </a:p>
        </p:txBody>
      </p:sp>
      <p:sp>
        <p:nvSpPr>
          <p:cNvPr id="100279" name="TextBox 16"/>
          <p:cNvSpPr/>
          <p:nvPr/>
        </p:nvSpPr>
        <p:spPr>
          <a:xfrm xmlns:a="http://schemas.openxmlformats.org/drawingml/2006/main">
            <a:off x="762000" y="3441700"/>
            <a:ext cx="63500" cy="184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92E8"/>
          </a:solidFill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/>
            <a:endParaRPr lang="en-US" sz="1600" b="0">
              <a:solidFill>
                <a:srgbClr val="161616"/>
              </a:solidFill>
              <a:latin typeface="IBM Plex Sans"/>
              <a:ea typeface="IBM Plex Sans"/>
            </a:endParaRPr>
          </a:p>
        </p:txBody>
      </p:sp>
      <p:sp>
        <p:nvSpPr>
          <p:cNvPr id="100280" name="TextBox 17"/>
          <p:cNvSpPr/>
          <p:nvPr/>
        </p:nvSpPr>
        <p:spPr>
          <a:xfrm xmlns:a="http://schemas.openxmlformats.org/drawingml/2006/main">
            <a:off x="1016000" y="3644900"/>
            <a:ext cx="2929467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/>
            <a:r>
              <a:rPr lang="en-US" sz="1600" b="1">
                <a:solidFill>
                  <a:srgbClr val="1192E8"/>
                </a:solidFill>
                <a:latin typeface="IBM Plex Sans"/>
                <a:ea typeface="IBM Plex Sans"/>
              </a:rPr>
              <a:t>API docs drift</a:t>
            </a:r>
          </a:p>
        </p:txBody>
      </p:sp>
      <p:sp>
        <p:nvSpPr>
          <p:cNvPr id="100281" name="TextBox 18"/>
          <p:cNvSpPr/>
          <p:nvPr/>
        </p:nvSpPr>
        <p:spPr>
          <a:xfrm xmlns:a="http://schemas.openxmlformats.org/drawingml/2006/main">
            <a:off x="1016000" y="4076700"/>
            <a:ext cx="2929467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</a:pPr>
            <a:r>
              <a:rPr lang="en-US" sz="1300" b="0">
                <a:solidFill>
                  <a:srgbClr val="525252"/>
                </a:solidFill>
                <a:latin typeface="IBM Plex Sans"/>
                <a:ea typeface="IBM Plex Sans"/>
              </a:rPr>
              <a:t>Keep docs/api-reference.md in sync with routes, or generate OpenAPI</a:t>
            </a:r>
          </a:p>
        </p:txBody>
      </p:sp>
      <p:sp>
        <p:nvSpPr>
          <p:cNvPr id="100282" name="TextBox 19"/>
          <p:cNvSpPr/>
          <p:nvPr/>
        </p:nvSpPr>
        <p:spPr>
          <a:xfrm xmlns:a="http://schemas.openxmlformats.org/drawingml/2006/main">
            <a:off x="4402667" y="3441700"/>
            <a:ext cx="3386667" cy="184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4F4"/>
          </a:solidFill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/>
            <a:endParaRPr lang="en-US" sz="1600" b="0">
              <a:solidFill>
                <a:srgbClr val="161616"/>
              </a:solidFill>
              <a:latin typeface="IBM Plex Sans"/>
              <a:ea typeface="IBM Plex Sans"/>
            </a:endParaRPr>
          </a:p>
        </p:txBody>
      </p:sp>
      <p:sp>
        <p:nvSpPr>
          <p:cNvPr id="100283" name="TextBox 20"/>
          <p:cNvSpPr/>
          <p:nvPr/>
        </p:nvSpPr>
        <p:spPr>
          <a:xfrm xmlns:a="http://schemas.openxmlformats.org/drawingml/2006/main">
            <a:off x="4402667" y="3441700"/>
            <a:ext cx="63500" cy="184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A148"/>
          </a:solidFill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/>
            <a:endParaRPr lang="en-US" sz="1600" b="0">
              <a:solidFill>
                <a:srgbClr val="161616"/>
              </a:solidFill>
              <a:latin typeface="IBM Plex Sans"/>
              <a:ea typeface="IBM Plex Sans"/>
            </a:endParaRPr>
          </a:p>
        </p:txBody>
      </p:sp>
      <p:sp>
        <p:nvSpPr>
          <p:cNvPr id="100284" name="TextBox 21"/>
          <p:cNvSpPr/>
          <p:nvPr/>
        </p:nvSpPr>
        <p:spPr>
          <a:xfrm xmlns:a="http://schemas.openxmlformats.org/drawingml/2006/main">
            <a:off x="4656667" y="3644900"/>
            <a:ext cx="2929467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/>
            <a:r>
              <a:rPr lang="en-US" sz="1600" b="1">
                <a:solidFill>
                  <a:srgbClr val="24A148"/>
                </a:solidFill>
                <a:latin typeface="IBM Plex Sans"/>
                <a:ea typeface="IBM Plex Sans"/>
              </a:rPr>
              <a:t>Query performance</a:t>
            </a:r>
          </a:p>
        </p:txBody>
      </p:sp>
      <p:sp>
        <p:nvSpPr>
          <p:cNvPr id="100285" name="TextBox 22"/>
          <p:cNvSpPr/>
          <p:nvPr/>
        </p:nvSpPr>
        <p:spPr>
          <a:xfrm xmlns:a="http://schemas.openxmlformats.org/drawingml/2006/main">
            <a:off x="4656667" y="4076700"/>
            <a:ext cx="2929467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</a:pPr>
            <a:r>
              <a:rPr lang="en-US" sz="1300" b="0">
                <a:solidFill>
                  <a:srgbClr val="525252"/>
                </a:solidFill>
                <a:latin typeface="IBM Plex Sans"/>
                <a:ea typeface="IBM Plex Sans"/>
              </a:rPr>
              <a:t>Speed up the assignment-filtered build list queries</a:t>
            </a:r>
          </a:p>
        </p:txBody>
      </p:sp>
      <p:sp>
        <p:nvSpPr>
          <p:cNvPr id="100286" name="TextBox 23"/>
          <p:cNvSpPr/>
          <p:nvPr/>
        </p:nvSpPr>
        <p:spPr>
          <a:xfrm xmlns:a="http://schemas.openxmlformats.org/drawingml/2006/main">
            <a:off x="8043333" y="3441700"/>
            <a:ext cx="3386667" cy="184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4F4"/>
          </a:solidFill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/>
            <a:endParaRPr lang="en-US" sz="1600" b="0">
              <a:solidFill>
                <a:srgbClr val="161616"/>
              </a:solidFill>
              <a:latin typeface="IBM Plex Sans"/>
              <a:ea typeface="IBM Plex Sans"/>
            </a:endParaRPr>
          </a:p>
        </p:txBody>
      </p:sp>
      <p:sp>
        <p:nvSpPr>
          <p:cNvPr id="100287" name="TextBox 24"/>
          <p:cNvSpPr/>
          <p:nvPr/>
        </p:nvSpPr>
        <p:spPr>
          <a:xfrm xmlns:a="http://schemas.openxmlformats.org/drawingml/2006/main">
            <a:off x="8043333" y="3441700"/>
            <a:ext cx="63500" cy="184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2670"/>
          </a:solidFill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/>
            <a:endParaRPr lang="en-US" sz="1600" b="0">
              <a:solidFill>
                <a:srgbClr val="161616"/>
              </a:solidFill>
              <a:latin typeface="IBM Plex Sans"/>
              <a:ea typeface="IBM Plex Sans"/>
            </a:endParaRPr>
          </a:p>
        </p:txBody>
      </p:sp>
      <p:sp>
        <p:nvSpPr>
          <p:cNvPr id="100288" name="TextBox 25"/>
          <p:cNvSpPr/>
          <p:nvPr/>
        </p:nvSpPr>
        <p:spPr>
          <a:xfrm xmlns:a="http://schemas.openxmlformats.org/drawingml/2006/main">
            <a:off x="8297333" y="3644900"/>
            <a:ext cx="2929467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/>
            <a:r>
              <a:rPr lang="en-US" sz="1600" b="1">
                <a:solidFill>
                  <a:srgbClr val="D02670"/>
                </a:solidFill>
                <a:latin typeface="IBM Plex Sans"/>
                <a:ea typeface="IBM Plex Sans"/>
              </a:rPr>
              <a:t>Ops checks</a:t>
            </a:r>
          </a:p>
        </p:txBody>
      </p:sp>
      <p:sp>
        <p:nvSpPr>
          <p:cNvPr id="100289" name="TextBox 26"/>
          <p:cNvSpPr/>
          <p:nvPr/>
        </p:nvSpPr>
        <p:spPr>
          <a:xfrm xmlns:a="http://schemas.openxmlformats.org/drawingml/2006/main">
            <a:off x="8297333" y="4076700"/>
            <a:ext cx="2929467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</a:pPr>
            <a:r>
              <a:rPr lang="en-US" sz="1300" b="0">
                <a:solidFill>
                  <a:srgbClr val="525252"/>
                </a:solidFill>
                <a:latin typeface="IBM Plex Sans"/>
                <a:ea typeface="IBM Plex Sans"/>
              </a:rPr>
              <a:t>Script post-deploy checks for /health, /verify and /verify-contract</a:t>
            </a:r>
          </a:p>
        </p:txBody>
      </p:sp>
      <p:sp>
        <p:nvSpPr>
          <p:cNvPr id="100290" name="TextBox 27"/>
          <p:cNvSpPr/>
          <p:nvPr/>
        </p:nvSpPr>
        <p:spPr>
          <a:xfrm xmlns:a="http://schemas.openxmlformats.org/drawingml/2006/main">
            <a:off x="762000" y="6324600"/>
            <a:ext cx="5080000" cy="17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/>
            <a:r>
              <a:rPr lang="en-US" sz="1000" b="0">
                <a:solidFill>
                  <a:srgbClr val="525252"/>
                </a:solidFill>
                <a:latin typeface="IBM Plex Sans"/>
                <a:ea typeface="IBM Plex Sans"/>
              </a:rPr>
              <a:t>Contract Manager · Intern Onboarding</a:t>
            </a:r>
          </a:p>
        </p:txBody>
      </p:sp>
      <p:sp>
        <p:nvSpPr>
          <p:cNvPr id="100291" name="TextBox 28"/>
          <p:cNvSpPr/>
          <p:nvPr/>
        </p:nvSpPr>
        <p:spPr>
          <a:xfrm xmlns:a="http://schemas.openxmlformats.org/drawingml/2006/main">
            <a:off x="10922000" y="6324600"/>
            <a:ext cx="508000" cy="17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/>
            <a:r>
              <a:rPr lang="en-US" sz="1000" b="0">
                <a:solidFill>
                  <a:srgbClr val="525252"/>
                </a:solidFill>
                <a:latin typeface="IBM Plex Sans"/>
                <a:ea typeface="IBM Plex Sans"/>
              </a:rPr>
              <a:t>15</a:t>
            </a:r>
          </a:p>
        </p:txBody>
      </p:sp>
    </p:spTree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161616"/>
        </a:solidFill>
      </p:bgPr>
    </p:bg>
    <p:spTree>
      <p:nvGrpSpPr>
        <p:cNvPr id="1" name=""/>
        <p:cNvGrpSpPr/>
        <p:nvPr/>
      </p:nvGrpSpPr>
      <p:grpSpPr/>
      <p:sp>
        <p:nvSpPr>
          <p:cNvPr id="100292" name="TextBox 1"/>
          <p:cNvSpPr/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62FE"/>
          </a:solidFill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/>
            <a:endParaRPr lang="en-US" sz="1600" b="0">
              <a:solidFill>
                <a:srgbClr val="161616"/>
              </a:solidFill>
              <a:latin typeface="IBM Plex Sans"/>
              <a:ea typeface="IBM Plex Sans"/>
            </a:endParaRPr>
          </a:p>
        </p:txBody>
      </p:sp>
      <p:sp>
        <p:nvSpPr>
          <p:cNvPr id="100293" name="TextBox 2"/>
          <p:cNvSpPr/>
          <p:nvPr/>
        </p:nvSpPr>
        <p:spPr>
          <a:xfrm xmlns:a="http://schemas.openxmlformats.org/drawingml/2006/main">
            <a:off x="762000" y="889000"/>
            <a:ext cx="10668000" cy="63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/>
            <a:r>
              <a:rPr lang="en-US" sz="3600" b="1">
                <a:solidFill>
                  <a:srgbClr val="FFFFFF"/>
                </a:solidFill>
                <a:latin typeface="IBM Plex Sans"/>
                <a:ea typeface="IBM Plex Sans"/>
              </a:rPr>
              <a:t>Where to read next</a:t>
            </a:r>
          </a:p>
        </p:txBody>
      </p:sp>
      <p:sp>
        <p:nvSpPr>
          <p:cNvPr id="100294" name="TextBox 3"/>
          <p:cNvSpPr/>
          <p:nvPr/>
        </p:nvSpPr>
        <p:spPr>
          <a:xfrm xmlns:a="http://schemas.openxmlformats.org/drawingml/2006/main">
            <a:off x="762000" y="1905000"/>
            <a:ext cx="4953000" cy="279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/>
            <a:r>
              <a:rPr lang="en-US" sz="1500" b="1">
                <a:solidFill>
                  <a:srgbClr val="78A9FF"/>
                </a:solidFill>
                <a:latin typeface="IBM Plex Mono"/>
                <a:ea typeface="IBM Plex Mono"/>
              </a:rPr>
              <a:t>AGENTS.md</a:t>
            </a:r>
          </a:p>
        </p:txBody>
      </p:sp>
      <p:sp>
        <p:nvSpPr>
          <p:cNvPr id="100295" name="TextBox 4"/>
          <p:cNvSpPr/>
          <p:nvPr/>
        </p:nvSpPr>
        <p:spPr>
          <a:xfrm xmlns:a="http://schemas.openxmlformats.org/drawingml/2006/main">
            <a:off x="762000" y="2260600"/>
            <a:ext cx="4953000" cy="279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/>
            <a:r>
              <a:rPr lang="en-US" sz="1500" b="0">
                <a:solidFill>
                  <a:srgbClr val="C6C6C6"/>
                </a:solidFill>
                <a:latin typeface="IBM Plex Sans"/>
                <a:ea typeface="IBM Plex Sans"/>
              </a:rPr>
              <a:t>Conventions, patterns and commands</a:t>
            </a:r>
          </a:p>
        </p:txBody>
      </p:sp>
      <p:sp>
        <p:nvSpPr>
          <p:cNvPr id="100296" name="TextBox 5"/>
          <p:cNvSpPr/>
          <p:nvPr/>
        </p:nvSpPr>
        <p:spPr>
          <a:xfrm xmlns:a="http://schemas.openxmlformats.org/drawingml/2006/main">
            <a:off x="6096000" y="1905000"/>
            <a:ext cx="4953000" cy="279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/>
            <a:r>
              <a:rPr lang="en-US" sz="1500" b="1">
                <a:solidFill>
                  <a:srgbClr val="78A9FF"/>
                </a:solidFill>
                <a:latin typeface="IBM Plex Mono"/>
                <a:ea typeface="IBM Plex Mono"/>
              </a:rPr>
              <a:t>CONTRIBUTING.md</a:t>
            </a:r>
          </a:p>
        </p:txBody>
      </p:sp>
      <p:sp>
        <p:nvSpPr>
          <p:cNvPr id="100297" name="TextBox 6"/>
          <p:cNvSpPr/>
          <p:nvPr/>
        </p:nvSpPr>
        <p:spPr>
          <a:xfrm xmlns:a="http://schemas.openxmlformats.org/drawingml/2006/main">
            <a:off x="6096000" y="2260600"/>
            <a:ext cx="4953000" cy="279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/>
            <a:r>
              <a:rPr lang="en-US" sz="1500" b="0">
                <a:solidFill>
                  <a:srgbClr val="C6C6C6"/>
                </a:solidFill>
                <a:latin typeface="IBM Plex Sans"/>
                <a:ea typeface="IBM Plex Sans"/>
              </a:rPr>
              <a:t>Branches, commits, signing, CI</a:t>
            </a:r>
          </a:p>
        </p:txBody>
      </p:sp>
      <p:sp>
        <p:nvSpPr>
          <p:cNvPr id="100298" name="TextBox 7"/>
          <p:cNvSpPr/>
          <p:nvPr/>
        </p:nvSpPr>
        <p:spPr>
          <a:xfrm xmlns:a="http://schemas.openxmlformats.org/drawingml/2006/main">
            <a:off x="762000" y="2921000"/>
            <a:ext cx="4953000" cy="279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/>
            <a:r>
              <a:rPr lang="en-US" sz="1500" b="1">
                <a:solidFill>
                  <a:srgbClr val="78A9FF"/>
                </a:solidFill>
                <a:latin typeface="IBM Plex Mono"/>
                <a:ea typeface="IBM Plex Mono"/>
              </a:rPr>
              <a:t>Design/1-high-level-design.md</a:t>
            </a:r>
          </a:p>
        </p:txBody>
      </p:sp>
      <p:sp>
        <p:nvSpPr>
          <p:cNvPr id="100299" name="TextBox 8"/>
          <p:cNvSpPr/>
          <p:nvPr/>
        </p:nvSpPr>
        <p:spPr>
          <a:xfrm xmlns:a="http://schemas.openxmlformats.org/drawingml/2006/main">
            <a:off x="762000" y="3276600"/>
            <a:ext cx="4953000" cy="279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/>
            <a:r>
              <a:rPr lang="en-US" sz="1500" b="0">
                <a:solidFill>
                  <a:srgbClr val="C6C6C6"/>
                </a:solidFill>
                <a:latin typeface="IBM Plex Sans"/>
                <a:ea typeface="IBM Plex Sans"/>
              </a:rPr>
              <a:t>Architecture and personas</a:t>
            </a:r>
          </a:p>
        </p:txBody>
      </p:sp>
      <p:sp>
        <p:nvSpPr>
          <p:cNvPr id="100300" name="TextBox 9"/>
          <p:cNvSpPr/>
          <p:nvPr/>
        </p:nvSpPr>
        <p:spPr>
          <a:xfrm xmlns:a="http://schemas.openxmlformats.org/drawingml/2006/main">
            <a:off x="6096000" y="2921000"/>
            <a:ext cx="4953000" cy="279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/>
            <a:r>
              <a:rPr lang="en-US" sz="1500" b="1">
                <a:solidFill>
                  <a:srgbClr val="78A9FF"/>
                </a:solidFill>
                <a:latin typeface="IBM Plex Mono"/>
                <a:ea typeface="IBM Plex Mono"/>
              </a:rPr>
              <a:t>Design/2-low-level-design.md</a:t>
            </a:r>
          </a:p>
        </p:txBody>
      </p:sp>
      <p:sp>
        <p:nvSpPr>
          <p:cNvPr id="100301" name="TextBox 10"/>
          <p:cNvSpPr/>
          <p:nvPr/>
        </p:nvSpPr>
        <p:spPr>
          <a:xfrm xmlns:a="http://schemas.openxmlformats.org/drawingml/2006/main">
            <a:off x="6096000" y="3276600"/>
            <a:ext cx="4953000" cy="279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/>
            <a:r>
              <a:rPr lang="en-US" sz="1500" b="0">
                <a:solidFill>
                  <a:srgbClr val="C6C6C6"/>
                </a:solidFill>
                <a:latin typeface="IBM Plex Sans"/>
                <a:ea typeface="IBM Plex Sans"/>
              </a:rPr>
              <a:t>Services, routes, data model</a:t>
            </a:r>
          </a:p>
        </p:txBody>
      </p:sp>
      <p:sp>
        <p:nvSpPr>
          <p:cNvPr id="100302" name="TextBox 11"/>
          <p:cNvSpPr/>
          <p:nvPr/>
        </p:nvSpPr>
        <p:spPr>
          <a:xfrm xmlns:a="http://schemas.openxmlformats.org/drawingml/2006/main">
            <a:off x="762000" y="3937000"/>
            <a:ext cx="4953000" cy="279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/>
            <a:r>
              <a:rPr lang="en-US" sz="1500" b="1">
                <a:solidFill>
                  <a:srgbClr val="78A9FF"/>
                </a:solidFill>
                <a:latin typeface="IBM Plex Mono"/>
                <a:ea typeface="IBM Plex Mono"/>
              </a:rPr>
              <a:t>Design/5-security-design.md</a:t>
            </a:r>
          </a:p>
        </p:txBody>
      </p:sp>
      <p:sp>
        <p:nvSpPr>
          <p:cNvPr id="100303" name="TextBox 12"/>
          <p:cNvSpPr/>
          <p:nvPr/>
        </p:nvSpPr>
        <p:spPr>
          <a:xfrm xmlns:a="http://schemas.openxmlformats.org/drawingml/2006/main">
            <a:off x="762000" y="4292600"/>
            <a:ext cx="4953000" cy="279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/>
            <a:r>
              <a:rPr lang="en-US" sz="1500" b="0">
                <a:solidFill>
                  <a:srgbClr val="C6C6C6"/>
                </a:solidFill>
                <a:latin typeface="IBM Plex Sans"/>
                <a:ea typeface="IBM Plex Sans"/>
              </a:rPr>
              <a:t>Threat model and key custody</a:t>
            </a:r>
          </a:p>
        </p:txBody>
      </p:sp>
      <p:sp>
        <p:nvSpPr>
          <p:cNvPr id="100304" name="TextBox 13"/>
          <p:cNvSpPr/>
          <p:nvPr/>
        </p:nvSpPr>
        <p:spPr>
          <a:xfrm xmlns:a="http://schemas.openxmlformats.org/drawingml/2006/main">
            <a:off x="6096000" y="3937000"/>
            <a:ext cx="4953000" cy="279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/>
            <a:r>
              <a:rPr lang="en-US" sz="1500" b="1">
                <a:solidFill>
                  <a:srgbClr val="78A9FF"/>
                </a:solidFill>
                <a:latin typeface="IBM Plex Mono"/>
                <a:ea typeface="IBM Plex Mono"/>
              </a:rPr>
              <a:t>docs/api-reference.md</a:t>
            </a:r>
          </a:p>
        </p:txBody>
      </p:sp>
      <p:sp>
        <p:nvSpPr>
          <p:cNvPr id="100305" name="TextBox 14"/>
          <p:cNvSpPr/>
          <p:nvPr/>
        </p:nvSpPr>
        <p:spPr>
          <a:xfrm xmlns:a="http://schemas.openxmlformats.org/drawingml/2006/main">
            <a:off x="6096000" y="4292600"/>
            <a:ext cx="4953000" cy="279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/>
            <a:r>
              <a:rPr lang="en-US" sz="1500" b="0">
                <a:solidFill>
                  <a:srgbClr val="C6C6C6"/>
                </a:solidFill>
                <a:latin typeface="IBM Plex Sans"/>
                <a:ea typeface="IBM Plex Sans"/>
              </a:rPr>
              <a:t>API reference</a:t>
            </a:r>
          </a:p>
        </p:txBody>
      </p:sp>
      <p:sp>
        <p:nvSpPr>
          <p:cNvPr id="100306" name="TextBox 15"/>
          <p:cNvSpPr/>
          <p:nvPr/>
        </p:nvSpPr>
        <p:spPr>
          <a:xfrm xmlns:a="http://schemas.openxmlformats.org/drawingml/2006/main">
            <a:off x="762000" y="5334000"/>
            <a:ext cx="1066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/>
            <a:r>
              <a:rPr lang="en-US" sz="1800" b="1">
                <a:solidFill>
                  <a:srgbClr val="FFFFFF"/>
                </a:solidFill>
                <a:latin typeface="IBM Plex Sans"/>
                <a:ea typeface="IBM Plex Sans"/>
              </a:rPr>
              <a:t>If the docs and the code disagree, trust the code. Ask questions early.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>
          <a:solidFill>
            <a:schemeClr val="phClr"/>
          </a:solidFill>
        </a:ln>
        <a:ln w="12700" cap="flat">
          <a:solidFill>
            <a:schemeClr val="phClr"/>
          </a:solidFill>
        </a:ln>
        <a:ln w="19050" cap="flat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ap:Properties xmlns:ap="http://schemas.openxmlformats.org/officeDocument/2006/extended-properties">
  <ap:Application>OfficeCLI/1.0.156</ap:Application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IBM Hyper Protect</dc:creator>
  <dcterms:created xsi:type="dcterms:W3CDTF">2026-10-12T06:38:32.0000000Z</dcterms:created>
  <lastModifiedBy>OfficeCLI</lastModifiedBy>
  <dcterms:modified xsi:type="dcterms:W3CDTF">2026-10-12T06:38:33.7626907Z</dcterms:modified>
  <dc:title>Contract Manager – Intern Onboarding</dc:title>
</coreProperties>
</file>

<file path=docProps/custom.xml><?xml version="1.0" encoding="utf-8"?>
<op:Properties xmlns:op="http://schemas.openxmlformats.org/officeDocument/2006/custom-properties">
  <op:property fmtid="{D5CDD505-2E9C-101B-9397-08002B2CF9AE}" pid="2" name="OfficeCLI.Version">
    <vt:lpwstr xmlns:vt="http://schemas.openxmlformats.org/officeDocument/2006/docPropsVTypes">1.0.156</vt:lpwstr>
  </op:property>
  <op:property fmtid="{D5CDD505-2E9C-101B-9397-08002B2CF9AE}" pid="3" name="OfficeCLI.LastModified">
    <vt:lpwstr xmlns:vt="http://schemas.openxmlformats.org/officeDocument/2006/docPropsVTypes">2026-10-12T06:38:34Z</vt:lpwstr>
  </op:property>
</op:Properties>
</file>